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开场先呈现项目问题，请学生说出完成任务所需的软硬件与数据链路。不要立即给出完整答案。</a:t>
            </a:r>
          </a:p>
          <a:p>
            <a:endParaRPr/>
          </a:p>
          <a:p>
            <a:r>
              <a:t>[Sources]</a:t>
            </a:r>
          </a:p>
          <a:p>
            <a:r>
              <a:t>- 本课程《实验9》实验指导书（工作区附件）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用三项学习结果说明本节课的验收边界。强调结果必须可演示、可截图、可复现。</a:t>
            </a:r>
          </a:p>
          <a:p>
            <a:endParaRPr/>
          </a:p>
          <a:p>
            <a:r>
              <a:t>[Sources]</a:t>
            </a:r>
          </a:p>
          <a:p>
            <a:r>
              <a:t>- 本课程《实验9》实验指导书（工作区附件）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让学生先口头描述数据从哪里产生、经过什么处理、最终驱动什么结果。调试时按箭头方向逐级排查。</a:t>
            </a:r>
          </a:p>
          <a:p>
            <a:endParaRPr/>
          </a:p>
          <a:p>
            <a:r>
              <a:t>[Sources]</a:t>
            </a:r>
          </a:p>
          <a:p>
            <a:r>
              <a:t>- 本课程《实验9》实验指导书（工作区附件）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按四个概念建立理论框架。每讲完一点，都要求学生指出它在系统链路中的位置。</a:t>
            </a:r>
          </a:p>
          <a:p>
            <a:endParaRPr/>
          </a:p>
          <a:p>
            <a:r>
              <a:t>[Sources]</a:t>
            </a:r>
          </a:p>
          <a:p>
            <a:r>
              <a:t>- 本课程《实验9》实验指导书（工作区附件）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板书关键公式或参数口径。让学生先预测参数变化带来的现象，再在实验中验证。</a:t>
            </a:r>
          </a:p>
          <a:p>
            <a:endParaRPr/>
          </a:p>
          <a:p>
            <a:r>
              <a:t>[Sources]</a:t>
            </a:r>
          </a:p>
          <a:p>
            <a:r>
              <a:t>- 本课程《实验9》实验指导书（工作区附件）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结合实验指导书截图讲清接口或配置。硬件项目需展示嘉立创EDA原理图，并让小组互查网络名与供电。</a:t>
            </a:r>
          </a:p>
          <a:p>
            <a:endParaRPr/>
          </a:p>
          <a:p>
            <a:r>
              <a:t>[Sources]</a:t>
            </a:r>
          </a:p>
          <a:p>
            <a:r>
              <a:t>- 本课程《实验9》实验指导书（工作区附件）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现场操作按五步推进。每一步结束后短暂停顿，检查全班完成率，再进入下一步。</a:t>
            </a:r>
          </a:p>
          <a:p>
            <a:endParaRPr/>
          </a:p>
          <a:p>
            <a:r>
              <a:t>[Sources]</a:t>
            </a:r>
          </a:p>
          <a:p>
            <a:r>
              <a:t>- 本课程《实验9》实验指导书（工作区附件）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不要逐行念代码。沿输入、处理、输出、异常四条线讲解，并让学生指出最需要调试的参数。</a:t>
            </a:r>
          </a:p>
          <a:p>
            <a:endParaRPr/>
          </a:p>
          <a:p>
            <a:r>
              <a:t>[Sources]</a:t>
            </a:r>
          </a:p>
          <a:p>
            <a:r>
              <a:t>- 本课程《实验9》实验指导书（工作区附件）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先请学生描述现象，再提出一条可验证假设。强调每次只改一个变量，改动前后都保留证据。</a:t>
            </a:r>
          </a:p>
          <a:p>
            <a:endParaRPr/>
          </a:p>
          <a:p>
            <a:r>
              <a:t>[Sources]</a:t>
            </a:r>
          </a:p>
          <a:p>
            <a:r>
              <a:t>- 本课程《实验9》实验指导书（工作区附件）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组织两分钟小组验收：一人操作，一人解释数据链路，一人出示证据，一人记录改进项。</a:t>
            </a:r>
          </a:p>
          <a:p>
            <a:endParaRPr/>
          </a:p>
          <a:p>
            <a:r>
              <a:t>[Sources]</a:t>
            </a:r>
          </a:p>
          <a:p>
            <a:r>
              <a:t>- 本课程《实验9》实验指导书（工作区附件）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收束本项目。让每位学生用一句话提交“最关键参数或接口 + 验证证据”，作为形成性评价。</a:t>
            </a:r>
          </a:p>
          <a:p>
            <a:endParaRPr/>
          </a:p>
          <a:p>
            <a:r>
              <a:t>[Sources]</a:t>
            </a:r>
          </a:p>
          <a:p>
            <a:r>
              <a:t>- 本课程《实验9》实验指导书（工作区附件）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7">
            <a:extLst>
              <a:ext uri="{FF2B5EF4-FFF2-40B4-BE49-F238E27FC236}">
                <a16:creationId xmlns:a16="http://schemas.microsoft.com/office/drawing/2014/main" id="{D00B085B-1E06-445C-BFB5-95CDA034A2C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70781" y="123092"/>
            <a:ext cx="257175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8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3C6D4452-D947-464E-A539-A62838F0E07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F28C45"/>
          </a:solidFill>
          <a:ln w="0">
            <a:noFill/>
            <a:prstDash val="solid"/>
          </a:ln>
        </p:spPr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4907E439-A77C-4F95-B598-21A1D5672141}"/>
              </a:ext>
            </a:extLst>
          </p:cNvPr>
          <p:cNvSpPr>
            <a:spLocks noGrp="1"/>
          </p:cNvSpPr>
          <p:nvPr/>
        </p:nvSpPr>
        <p:spPr>
          <a:xfrm>
            <a:off x="647700" y="552450"/>
            <a:ext cx="4953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500" b="1">
                <a:solidFill>
                  <a:srgbClr val="20A3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0A39A"/>
                </a:solidFill>
                <a:latin typeface="Microsoft YaHei"/>
                <a:ea typeface="Microsoft YaHei"/>
                <a:cs typeface="Microsoft YaHei"/>
              </a:rPr>
              <a:t>《无人驾驶环境感知技术》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F76FB434-6817-49B5-86D2-DF1D9DAD1B72}"/>
              </a:ext>
            </a:extLst>
          </p:cNvPr>
          <p:cNvSpPr>
            <a:spLocks noGrp="1"/>
          </p:cNvSpPr>
          <p:nvPr/>
        </p:nvSpPr>
        <p:spPr>
          <a:xfrm>
            <a:off x="647700" y="1571625"/>
            <a:ext cx="2286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950" b="1">
                <a:solidFill>
                  <a:srgbClr val="F28C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28C45"/>
                </a:solidFill>
                <a:latin typeface="Microsoft YaHei"/>
                <a:ea typeface="Microsoft YaHei"/>
                <a:cs typeface="Microsoft YaHei"/>
              </a:rPr>
              <a:t>项目 9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3C32531C-968A-427B-98CB-4E8AF2A14ADF}"/>
              </a:ext>
            </a:extLst>
          </p:cNvPr>
          <p:cNvSpPr>
            <a:spLocks noGrp="1"/>
          </p:cNvSpPr>
          <p:nvPr/>
        </p:nvSpPr>
        <p:spPr>
          <a:xfrm>
            <a:off x="647700" y="2171700"/>
            <a:ext cx="8048625" cy="1571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基于激光雷达的实时建图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E49AE99E-FB50-4BB1-A45C-AD91FC7E2A4D}"/>
              </a:ext>
            </a:extLst>
          </p:cNvPr>
          <p:cNvSpPr>
            <a:spLocks noGrp="1"/>
          </p:cNvSpPr>
          <p:nvPr/>
        </p:nvSpPr>
        <p:spPr>
          <a:xfrm>
            <a:off x="666750" y="4286250"/>
            <a:ext cx="75247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800" b="0">
                <a:solidFill>
                  <a:srgbClr val="D9E4E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9E4E3"/>
                </a:solidFill>
                <a:latin typeface="Microsoft YaHei"/>
                <a:ea typeface="Microsoft YaHei"/>
                <a:cs typeface="Microsoft YaHei"/>
              </a:rPr>
              <a:t>如何把连续激光扫描配准成一致的位姿估计与二维栅格地图？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C728FEB9-97F5-4742-9334-304C87E9A661}"/>
              </a:ext>
            </a:extLst>
          </p:cNvPr>
          <p:cNvSpPr>
            <a:spLocks noGrp="1"/>
          </p:cNvSpPr>
          <p:nvPr/>
        </p:nvSpPr>
        <p:spPr>
          <a:xfrm>
            <a:off x="9429750" y="1905000"/>
            <a:ext cx="1381125" cy="704850"/>
          </a:xfrm>
          <a:prstGeom prst="roundRect">
            <a:avLst>
              <a:gd name="adj" fmla="val 8108"/>
            </a:avLst>
          </a:prstGeom>
          <a:solidFill>
            <a:srgbClr val="20A39A"/>
          </a:solidFill>
          <a:ln w="0">
            <a:noFill/>
            <a:prstDash val="solid"/>
          </a:ln>
        </p:spPr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7C0C8460-33B4-4F27-ABCE-CD068FE38204}"/>
              </a:ext>
            </a:extLst>
          </p:cNvPr>
          <p:cNvSpPr>
            <a:spLocks noGrp="1"/>
          </p:cNvSpPr>
          <p:nvPr/>
        </p:nvSpPr>
        <p:spPr>
          <a:xfrm>
            <a:off x="9429750" y="2038350"/>
            <a:ext cx="13811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感知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B7B183B-8258-4077-9A46-81E9FEA454E2}"/>
              </a:ext>
            </a:extLst>
          </p:cNvPr>
          <p:cNvSpPr>
            <a:spLocks noGrp="1"/>
          </p:cNvSpPr>
          <p:nvPr/>
        </p:nvSpPr>
        <p:spPr>
          <a:xfrm>
            <a:off x="10086975" y="2628900"/>
            <a:ext cx="66675" cy="4953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7F4B3F14-F4F7-46F4-9FF8-5E500FB2DB3E}"/>
              </a:ext>
            </a:extLst>
          </p:cNvPr>
          <p:cNvSpPr>
            <a:spLocks noGrp="1"/>
          </p:cNvSpPr>
          <p:nvPr/>
        </p:nvSpPr>
        <p:spPr>
          <a:xfrm>
            <a:off x="9429750" y="3143250"/>
            <a:ext cx="1381125" cy="704850"/>
          </a:xfrm>
          <a:prstGeom prst="roundRect">
            <a:avLst>
              <a:gd name="adj" fmla="val 8108"/>
            </a:avLst>
          </a:prstGeom>
          <a:solidFill>
            <a:srgbClr val="F28C45"/>
          </a:solidFill>
          <a:ln w="0">
            <a:noFill/>
            <a:prstDash val="solid"/>
          </a:ln>
        </p:spPr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B55E51FF-ABEE-47EC-A625-F1CC2E208176}"/>
              </a:ext>
            </a:extLst>
          </p:cNvPr>
          <p:cNvSpPr>
            <a:spLocks noGrp="1"/>
          </p:cNvSpPr>
          <p:nvPr/>
        </p:nvSpPr>
        <p:spPr>
          <a:xfrm>
            <a:off x="9429750" y="3276600"/>
            <a:ext cx="13811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计算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5158421-99FF-4986-AA1F-9344B38C6C5F}"/>
              </a:ext>
            </a:extLst>
          </p:cNvPr>
          <p:cNvSpPr>
            <a:spLocks noGrp="1"/>
          </p:cNvSpPr>
          <p:nvPr/>
        </p:nvSpPr>
        <p:spPr>
          <a:xfrm>
            <a:off x="10086975" y="3867150"/>
            <a:ext cx="66675" cy="4953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4F73739A-5F2D-4A13-98E8-76CF9BA33096}"/>
              </a:ext>
            </a:extLst>
          </p:cNvPr>
          <p:cNvSpPr>
            <a:spLocks noGrp="1"/>
          </p:cNvSpPr>
          <p:nvPr/>
        </p:nvSpPr>
        <p:spPr>
          <a:xfrm>
            <a:off x="9429750" y="4381500"/>
            <a:ext cx="1381125" cy="704850"/>
          </a:xfrm>
          <a:prstGeom prst="roundRect">
            <a:avLst>
              <a:gd name="adj" fmla="val 8108"/>
            </a:avLst>
          </a:prstGeom>
          <a:solidFill>
            <a:srgbClr val="20A39A"/>
          </a:solidFill>
          <a:ln w="0">
            <a:noFill/>
            <a:prstDash val="solid"/>
          </a:ln>
        </p:spPr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34DA48F3-644C-4409-8B60-ACF4436FB243}"/>
              </a:ext>
            </a:extLst>
          </p:cNvPr>
          <p:cNvSpPr>
            <a:spLocks noGrp="1"/>
          </p:cNvSpPr>
          <p:nvPr/>
        </p:nvSpPr>
        <p:spPr>
          <a:xfrm>
            <a:off x="9429750" y="4514850"/>
            <a:ext cx="13811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行动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656AB93E-0927-4667-9DB2-451F417D60DA}"/>
              </a:ext>
            </a:extLst>
          </p:cNvPr>
          <p:cNvSpPr>
            <a:spLocks noGrp="1"/>
          </p:cNvSpPr>
          <p:nvPr/>
        </p:nvSpPr>
        <p:spPr>
          <a:xfrm>
            <a:off x="657225" y="6048375"/>
            <a:ext cx="3048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 fontScale="93750"/>
          </a:bodyPr>
          <a:lstStyle/>
          <a:p>
            <a:pPr algn="l">
              <a:defRPr sz="1200" b="0">
                <a:solidFill>
                  <a:srgbClr val="AFC6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FC6C4"/>
                </a:solidFill>
                <a:latin typeface="Microsoft YaHei"/>
                <a:ea typeface="Microsoft YaHei"/>
                <a:cs typeface="Microsoft YaHei"/>
              </a:rPr>
              <a:t>项目导向课堂课件</a:t>
            </a:r>
          </a:p>
        </p:txBody>
      </p:sp>
    </p:spTree>
    <p:extLst>
      <p:ext uri="{BB962C8B-B14F-4D97-AF65-F5344CB8AC3E}">
        <p14:creationId xmlns:p14="http://schemas.microsoft.com/office/powerpoint/2010/main" val="19603702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">
            <a:extLst>
              <a:ext uri="{FF2B5EF4-FFF2-40B4-BE49-F238E27FC236}">
                <a16:creationId xmlns:a16="http://schemas.microsoft.com/office/drawing/2014/main" id="{94AA9BFD-8676-4641-8B03-80886C05A5D6}"/>
              </a:ext>
            </a:extLst>
          </p:cNvPr>
          <p:cNvSpPr>
            <a:spLocks noGrp="1"/>
          </p:cNvSpPr>
          <p:nvPr/>
        </p:nvSpPr>
        <p:spPr>
          <a:xfrm>
            <a:off x="571500" y="2476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项目 9  /  激光SLAM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E9885CC5-CB6A-42EA-9BDD-C77E7DA973F3}"/>
              </a:ext>
            </a:extLst>
          </p:cNvPr>
          <p:cNvSpPr>
            <a:spLocks noGrp="1"/>
          </p:cNvSpPr>
          <p:nvPr/>
        </p:nvSpPr>
        <p:spPr>
          <a:xfrm>
            <a:off x="571500" y="628650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本项目要交付一个可验证的系统结果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7D292F8B-FA1A-4389-9665-A7C976E8E8B1}"/>
              </a:ext>
            </a:extLst>
          </p:cNvPr>
          <p:cNvSpPr>
            <a:spLocks noGrp="1"/>
          </p:cNvSpPr>
          <p:nvPr/>
        </p:nvSpPr>
        <p:spPr>
          <a:xfrm>
            <a:off x="590550" y="1247775"/>
            <a:ext cx="1047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35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如何把连续激光扫描配准成一致的位姿估计与二维栅格地图？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2F8D40A-E6B5-4155-A04A-3A27EADD46C0}"/>
              </a:ext>
            </a:extLst>
          </p:cNvPr>
          <p:cNvSpPr>
            <a:spLocks noGrp="1"/>
          </p:cNvSpPr>
          <p:nvPr/>
        </p:nvSpPr>
        <p:spPr>
          <a:xfrm>
            <a:off x="571500" y="1619250"/>
            <a:ext cx="11049000" cy="19050"/>
          </a:xfrm>
          <a:prstGeom prst="rect">
            <a:avLst/>
          </a:prstGeom>
          <a:solidFill>
            <a:srgbClr val="007F76"/>
          </a:solidFill>
          <a:ln w="0">
            <a:noFill/>
            <a:prstDash val="solid"/>
          </a:ln>
        </p:spPr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F4BB8BD5-3C47-4789-8F23-5E0EBEA77057}"/>
              </a:ext>
            </a:extLst>
          </p:cNvPr>
          <p:cNvSpPr>
            <a:spLocks noGrp="1"/>
          </p:cNvSpPr>
          <p:nvPr/>
        </p:nvSpPr>
        <p:spPr>
          <a:xfrm>
            <a:off x="11115675" y="6400800"/>
            <a:ext cx="495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 fontScale="89744" lnSpcReduction="10000"/>
          </a:bodyPr>
          <a:lstStyle/>
          <a:p>
            <a:pPr algn="r">
              <a:def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DF0782D0-8624-4B7E-A653-307AE763CA10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762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7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E3AE46AD-C6D6-4BE8-8FAA-5FE021FF8729}"/>
              </a:ext>
            </a:extLst>
          </p:cNvPr>
          <p:cNvSpPr>
            <a:spLocks noGrp="1"/>
          </p:cNvSpPr>
          <p:nvPr/>
        </p:nvSpPr>
        <p:spPr>
          <a:xfrm>
            <a:off x="1714500" y="2124075"/>
            <a:ext cx="8667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2025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理解TOF测距、LaserScan与SLAM基本链路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64B970-1B69-482C-9A5C-39D001B39940}"/>
              </a:ext>
            </a:extLst>
          </p:cNvPr>
          <p:cNvSpPr>
            <a:spLocks noGrp="1"/>
          </p:cNvSpPr>
          <p:nvPr/>
        </p:nvSpPr>
        <p:spPr>
          <a:xfrm>
            <a:off x="1714500" y="2838450"/>
            <a:ext cx="8667750" cy="9525"/>
          </a:xfrm>
          <a:prstGeom prst="rect">
            <a:avLst/>
          </a:prstGeom>
          <a:solidFill>
            <a:srgbClr val="C7D2D1"/>
          </a:solidFill>
          <a:ln w="0">
            <a:noFill/>
            <a:prstDash val="solid"/>
          </a:ln>
        </p:spPr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F18A5FF6-DCC4-4A3D-8899-934473A8E5DE}"/>
              </a:ext>
            </a:extLst>
          </p:cNvPr>
          <p:cNvSpPr>
            <a:spLocks noGrp="1"/>
          </p:cNvSpPr>
          <p:nvPr/>
        </p:nvSpPr>
        <p:spPr>
          <a:xfrm>
            <a:off x="762000" y="3314700"/>
            <a:ext cx="762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7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0AFFE5CA-93C7-4741-A5EA-60C56374D1FD}"/>
              </a:ext>
            </a:extLst>
          </p:cNvPr>
          <p:cNvSpPr>
            <a:spLocks noGrp="1"/>
          </p:cNvSpPr>
          <p:nvPr/>
        </p:nvSpPr>
        <p:spPr>
          <a:xfrm>
            <a:off x="1714500" y="3343275"/>
            <a:ext cx="8667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2025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驱动镭神N10并在RViz显示扫描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0B276DF-F0DE-42B9-87A9-E74022B00A2C}"/>
              </a:ext>
            </a:extLst>
          </p:cNvPr>
          <p:cNvSpPr>
            <a:spLocks noGrp="1"/>
          </p:cNvSpPr>
          <p:nvPr/>
        </p:nvSpPr>
        <p:spPr>
          <a:xfrm>
            <a:off x="1714500" y="4057650"/>
            <a:ext cx="8667750" cy="9525"/>
          </a:xfrm>
          <a:prstGeom prst="rect">
            <a:avLst/>
          </a:prstGeom>
          <a:solidFill>
            <a:srgbClr val="C7D2D1"/>
          </a:solidFill>
          <a:ln w="0">
            <a:noFill/>
            <a:prstDash val="solid"/>
          </a:ln>
        </p:spPr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131327C3-AD0A-4707-8092-C15598503D05}"/>
              </a:ext>
            </a:extLst>
          </p:cNvPr>
          <p:cNvSpPr>
            <a:spLocks noGrp="1"/>
          </p:cNvSpPr>
          <p:nvPr/>
        </p:nvSpPr>
        <p:spPr>
          <a:xfrm>
            <a:off x="762000" y="4533900"/>
            <a:ext cx="762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700" b="1">
                <a:solidFill>
                  <a:srgbClr val="F28C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28C4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870B697E-A660-4144-AD93-A77607335648}"/>
              </a:ext>
            </a:extLst>
          </p:cNvPr>
          <p:cNvSpPr>
            <a:spLocks noGrp="1"/>
          </p:cNvSpPr>
          <p:nvPr/>
        </p:nvSpPr>
        <p:spPr>
          <a:xfrm>
            <a:off x="1714500" y="4562475"/>
            <a:ext cx="8667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2025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使用Hector SLAM完成实时建图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73072BB-940A-4C0B-A0C3-292FD7B49D48}"/>
              </a:ext>
            </a:extLst>
          </p:cNvPr>
          <p:cNvSpPr>
            <a:spLocks noGrp="1"/>
          </p:cNvSpPr>
          <p:nvPr/>
        </p:nvSpPr>
        <p:spPr>
          <a:xfrm>
            <a:off x="1714500" y="5276850"/>
            <a:ext cx="8667750" cy="9525"/>
          </a:xfrm>
          <a:prstGeom prst="rect">
            <a:avLst/>
          </a:prstGeom>
          <a:solidFill>
            <a:srgbClr val="C7D2D1"/>
          </a:solidFill>
          <a:ln w="0">
            <a:noFill/>
            <a:prstDash val="solid"/>
          </a:ln>
        </p:spPr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832D5408-013E-4DAC-ABBF-44FF767E4CE0}"/>
              </a:ext>
            </a:extLst>
          </p:cNvPr>
          <p:cNvSpPr>
            <a:spLocks noGrp="1"/>
          </p:cNvSpPr>
          <p:nvPr/>
        </p:nvSpPr>
        <p:spPr>
          <a:xfrm>
            <a:off x="9763125" y="2152650"/>
            <a:ext cx="1238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ctr">
              <a:defRPr sz="1350" b="1">
                <a:solidFill>
                  <a:srgbClr val="F28C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28C45"/>
                </a:solidFill>
                <a:latin typeface="Microsoft YaHei"/>
                <a:ea typeface="Microsoft YaHei"/>
                <a:cs typeface="Microsoft YaHei"/>
              </a:rPr>
              <a:t>课堂产出</a:t>
            </a:r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303F9E26-737D-4C4E-BBA6-C5CAC1A09EF4}"/>
              </a:ext>
            </a:extLst>
          </p:cNvPr>
          <p:cNvSpPr>
            <a:spLocks noGrp="1"/>
          </p:cNvSpPr>
          <p:nvPr/>
        </p:nvSpPr>
        <p:spPr>
          <a:xfrm>
            <a:off x="9763125" y="2628900"/>
            <a:ext cx="1238250" cy="211455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C7D2D1"/>
            </a:solidFill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ctr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原理解释</a:t>
            </a:r>
          </a:p>
          <a:p>
            <a:pPr algn="ctr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操作记录</a:t>
            </a:r>
          </a:p>
          <a:p>
            <a:pPr algn="ctr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运行结果</a:t>
            </a:r>
          </a:p>
          <a:p>
            <a:pPr algn="ctr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问题复盘</a:t>
            </a:r>
          </a:p>
        </p:txBody>
      </p:sp>
    </p:spTree>
    <p:extLst>
      <p:ext uri="{BB962C8B-B14F-4D97-AF65-F5344CB8AC3E}">
        <p14:creationId xmlns:p14="http://schemas.microsoft.com/office/powerpoint/2010/main" val="3626858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">
            <a:extLst>
              <a:ext uri="{FF2B5EF4-FFF2-40B4-BE49-F238E27FC236}">
                <a16:creationId xmlns:a16="http://schemas.microsoft.com/office/drawing/2014/main" id="{9D1C724F-1A37-426B-978B-C5F81DEB3A20}"/>
              </a:ext>
            </a:extLst>
          </p:cNvPr>
          <p:cNvSpPr>
            <a:spLocks noGrp="1"/>
          </p:cNvSpPr>
          <p:nvPr/>
        </p:nvSpPr>
        <p:spPr>
          <a:xfrm>
            <a:off x="571500" y="2476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项目 9  /  激光SLAM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C7DB75AD-8C09-4447-BF59-4E96CC5C5F1A}"/>
              </a:ext>
            </a:extLst>
          </p:cNvPr>
          <p:cNvSpPr>
            <a:spLocks noGrp="1"/>
          </p:cNvSpPr>
          <p:nvPr/>
        </p:nvSpPr>
        <p:spPr>
          <a:xfrm>
            <a:off x="571500" y="628650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先看系统全链路，再进入局部操作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4D91C58A-A9B6-47C3-AFFB-C7CE9894F51D}"/>
              </a:ext>
            </a:extLst>
          </p:cNvPr>
          <p:cNvSpPr>
            <a:spLocks noGrp="1"/>
          </p:cNvSpPr>
          <p:nvPr/>
        </p:nvSpPr>
        <p:spPr>
          <a:xfrm>
            <a:off x="590550" y="1247775"/>
            <a:ext cx="1047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35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每个方框都对应一个可单独验证的子任务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951EFEF-A1BB-4BFC-86B2-DCA343F7177D}"/>
              </a:ext>
            </a:extLst>
          </p:cNvPr>
          <p:cNvSpPr>
            <a:spLocks noGrp="1"/>
          </p:cNvSpPr>
          <p:nvPr/>
        </p:nvSpPr>
        <p:spPr>
          <a:xfrm>
            <a:off x="571500" y="1619250"/>
            <a:ext cx="11049000" cy="19050"/>
          </a:xfrm>
          <a:prstGeom prst="rect">
            <a:avLst/>
          </a:prstGeom>
          <a:solidFill>
            <a:srgbClr val="007F76"/>
          </a:solidFill>
          <a:ln w="0">
            <a:noFill/>
            <a:prstDash val="solid"/>
          </a:ln>
        </p:spPr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33C7EA39-B26D-4A19-9606-0D8D9B7916C3}"/>
              </a:ext>
            </a:extLst>
          </p:cNvPr>
          <p:cNvSpPr>
            <a:spLocks noGrp="1"/>
          </p:cNvSpPr>
          <p:nvPr/>
        </p:nvSpPr>
        <p:spPr>
          <a:xfrm>
            <a:off x="11115675" y="6400800"/>
            <a:ext cx="495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 fontScale="89744" lnSpcReduction="10000"/>
          </a:bodyPr>
          <a:lstStyle/>
          <a:p>
            <a:pPr algn="r">
              <a:def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950B6163-D8A0-4E8B-AF9F-6703417ACBC2}"/>
              </a:ext>
            </a:extLst>
          </p:cNvPr>
          <p:cNvSpPr>
            <a:spLocks noGrp="1"/>
          </p:cNvSpPr>
          <p:nvPr/>
        </p:nvSpPr>
        <p:spPr>
          <a:xfrm>
            <a:off x="762000" y="2714625"/>
            <a:ext cx="2424113" cy="110490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9525">
            <a:solidFill>
              <a:srgbClr val="007F76"/>
            </a:solidFill>
            <a:prstDash val="solid"/>
          </a:ln>
        </p:spPr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9A10B82C-44E7-4FA9-B004-33F0562A4A5F}"/>
              </a:ext>
            </a:extLst>
          </p:cNvPr>
          <p:cNvSpPr>
            <a:spLocks noGrp="1"/>
          </p:cNvSpPr>
          <p:nvPr/>
        </p:nvSpPr>
        <p:spPr>
          <a:xfrm>
            <a:off x="3509963" y="2714625"/>
            <a:ext cx="2424113" cy="1104900"/>
          </a:xfrm>
          <a:prstGeom prst="roundRect">
            <a:avLst>
              <a:gd name="adj" fmla="val 5172"/>
            </a:avLst>
          </a:prstGeom>
          <a:solidFill>
            <a:srgbClr val="D9EEEA"/>
          </a:solidFill>
          <a:ln w="9525">
            <a:solidFill>
              <a:srgbClr val="007F76"/>
            </a:solidFill>
            <a:prstDash val="solid"/>
          </a:ln>
        </p:spPr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F3C376E8-2528-4A57-BCF2-44CBAD8470C5}"/>
              </a:ext>
            </a:extLst>
          </p:cNvPr>
          <p:cNvSpPr>
            <a:spLocks noGrp="1"/>
          </p:cNvSpPr>
          <p:nvPr/>
        </p:nvSpPr>
        <p:spPr>
          <a:xfrm>
            <a:off x="6257925" y="2714625"/>
            <a:ext cx="2424113" cy="110490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9525">
            <a:solidFill>
              <a:srgbClr val="007F76"/>
            </a:solidFill>
            <a:prstDash val="solid"/>
          </a:ln>
        </p:spPr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D7C9AFCC-6B99-4BC9-9AF8-30222A73CCD0}"/>
              </a:ext>
            </a:extLst>
          </p:cNvPr>
          <p:cNvSpPr>
            <a:spLocks noGrp="1"/>
          </p:cNvSpPr>
          <p:nvPr/>
        </p:nvSpPr>
        <p:spPr>
          <a:xfrm>
            <a:off x="9005888" y="2714625"/>
            <a:ext cx="2424113" cy="1104900"/>
          </a:xfrm>
          <a:prstGeom prst="roundRect">
            <a:avLst>
              <a:gd name="adj" fmla="val 5172"/>
            </a:avLst>
          </a:prstGeom>
          <a:solidFill>
            <a:srgbClr val="D9EEEA"/>
          </a:solidFill>
          <a:ln w="9525">
            <a:solidFill>
              <a:srgbClr val="007F76"/>
            </a:solidFill>
            <a:prstDash val="solid"/>
          </a:ln>
        </p:spPr>
      </p:sp>
      <p:cxnSp>
        <p:nvCxnSpPr>
          <p:cNvPr id="27" name="直接箭头连接符 26"/>
          <p:cNvCxnSpPr>
            <a:stCxn id="6" idx="3"/>
            <a:endCxn id="7" idx="1"/>
          </p:cNvCxnSpPr>
          <p:nvPr/>
        </p:nvCxnSpPr>
        <p:spPr>
          <a:xfrm>
            <a:off x="3186113" y="3267075"/>
            <a:ext cx="323850" cy="0"/>
          </a:xfrm>
          <a:prstGeom prst="straightConnector1">
            <a:avLst/>
          </a:prstGeom>
          <a:ln w="28575">
            <a:solidFill>
              <a:srgbClr val="F28C45"/>
            </a:solidFill>
            <a:prstDash val="solid"/>
            <a:headEnd type="arrow" w="med" len="med"/>
          </a:ln>
        </p:spPr>
      </p:cxnSp>
      <p:cxnSp>
        <p:nvCxnSpPr>
          <p:cNvPr id="28" name="直接箭头连接符 27"/>
          <p:cNvCxnSpPr>
            <a:stCxn id="7" idx="3"/>
            <a:endCxn id="8" idx="1"/>
          </p:cNvCxnSpPr>
          <p:nvPr/>
        </p:nvCxnSpPr>
        <p:spPr>
          <a:xfrm>
            <a:off x="5934076" y="3267075"/>
            <a:ext cx="323849" cy="0"/>
          </a:xfrm>
          <a:prstGeom prst="straightConnector1">
            <a:avLst/>
          </a:prstGeom>
          <a:ln w="28575">
            <a:solidFill>
              <a:srgbClr val="F28C45"/>
            </a:solidFill>
            <a:prstDash val="solid"/>
            <a:headEnd type="arrow" w="med" len="med"/>
          </a:ln>
        </p:spPr>
      </p:cxnSp>
      <p:cxnSp>
        <p:nvCxnSpPr>
          <p:cNvPr id="29" name="直接箭头连接符 28"/>
          <p:cNvCxnSpPr>
            <a:stCxn id="8" idx="3"/>
            <a:endCxn id="9" idx="1"/>
          </p:cNvCxnSpPr>
          <p:nvPr/>
        </p:nvCxnSpPr>
        <p:spPr>
          <a:xfrm>
            <a:off x="8682038" y="3267075"/>
            <a:ext cx="323850" cy="0"/>
          </a:xfrm>
          <a:prstGeom prst="straightConnector1">
            <a:avLst/>
          </a:prstGeom>
          <a:ln w="28575">
            <a:solidFill>
              <a:srgbClr val="F28C45"/>
            </a:solidFill>
            <a:prstDash val="solid"/>
            <a:headEnd type="arrow" w="med" len="med"/>
          </a:ln>
        </p:spPr>
      </p:cxnSp>
      <p:sp>
        <p:nvSpPr>
          <p:cNvPr id="13" name="text">
            <a:extLst>
              <a:ext uri="{FF2B5EF4-FFF2-40B4-BE49-F238E27FC236}">
                <a16:creationId xmlns:a16="http://schemas.microsoft.com/office/drawing/2014/main" id="{78E58DA8-E2F1-479A-AC81-091149AB7CB0}"/>
              </a:ext>
            </a:extLst>
          </p:cNvPr>
          <p:cNvSpPr>
            <a:spLocks noGrp="1"/>
          </p:cNvSpPr>
          <p:nvPr/>
        </p:nvSpPr>
        <p:spPr>
          <a:xfrm>
            <a:off x="857250" y="2876550"/>
            <a:ext cx="2233613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ctr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  <a:p>
            <a:pPr algn="ctr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LaserScan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439B05EB-42E0-4A60-8327-FA72EA89904F}"/>
              </a:ext>
            </a:extLst>
          </p:cNvPr>
          <p:cNvSpPr>
            <a:spLocks noGrp="1"/>
          </p:cNvSpPr>
          <p:nvPr/>
        </p:nvSpPr>
        <p:spPr>
          <a:xfrm>
            <a:off x="3605213" y="2876550"/>
            <a:ext cx="2233613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ctr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  <a:p>
            <a:pPr algn="ctr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扫描匹配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C82C07E4-EC6B-436E-AE46-C6E0C4FA449F}"/>
              </a:ext>
            </a:extLst>
          </p:cNvPr>
          <p:cNvSpPr>
            <a:spLocks noGrp="1"/>
          </p:cNvSpPr>
          <p:nvPr/>
        </p:nvSpPr>
        <p:spPr>
          <a:xfrm>
            <a:off x="6353175" y="2876550"/>
            <a:ext cx="2233613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ctr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  <a:p>
            <a:pPr algn="ctr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位姿估计</a:t>
            </a:r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8123D99C-1235-4A18-9012-FA78258FD13A}"/>
              </a:ext>
            </a:extLst>
          </p:cNvPr>
          <p:cNvSpPr>
            <a:spLocks noGrp="1"/>
          </p:cNvSpPr>
          <p:nvPr/>
        </p:nvSpPr>
        <p:spPr>
          <a:xfrm>
            <a:off x="9101138" y="2876550"/>
            <a:ext cx="2233613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ctr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  <a:p>
            <a:pPr algn="ctr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栅格地图</a:t>
            </a:r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91A6ED31-51AC-4160-A853-B3410791FE35}"/>
              </a:ext>
            </a:extLst>
          </p:cNvPr>
          <p:cNvSpPr>
            <a:spLocks noGrp="1"/>
          </p:cNvSpPr>
          <p:nvPr/>
        </p:nvSpPr>
        <p:spPr>
          <a:xfrm>
            <a:off x="1952625" y="49053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ctr">
              <a:defRPr sz="18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调试原则：从链路左侧开始逐级验证输入和输出，不要跳步。</a:t>
            </a:r>
          </a:p>
        </p:txBody>
      </p:sp>
    </p:spTree>
    <p:extLst>
      <p:ext uri="{BB962C8B-B14F-4D97-AF65-F5344CB8AC3E}">
        <p14:creationId xmlns:p14="http://schemas.microsoft.com/office/powerpoint/2010/main" val="1482605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">
            <a:extLst>
              <a:ext uri="{FF2B5EF4-FFF2-40B4-BE49-F238E27FC236}">
                <a16:creationId xmlns:a16="http://schemas.microsoft.com/office/drawing/2014/main" id="{10B687C8-D9C0-4135-8686-76C1D0616080}"/>
              </a:ext>
            </a:extLst>
          </p:cNvPr>
          <p:cNvSpPr>
            <a:spLocks noGrp="1"/>
          </p:cNvSpPr>
          <p:nvPr/>
        </p:nvSpPr>
        <p:spPr>
          <a:xfrm>
            <a:off x="571500" y="2476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项目 9  /  激光SLAM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941120A4-89E1-4C39-A665-92314B584CF1}"/>
              </a:ext>
            </a:extLst>
          </p:cNvPr>
          <p:cNvSpPr>
            <a:spLocks noGrp="1"/>
          </p:cNvSpPr>
          <p:nvPr/>
        </p:nvSpPr>
        <p:spPr>
          <a:xfrm>
            <a:off x="571500" y="628650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SLAM在未知环境中同时估计机器人位姿和地图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A6C5E5E-48D4-4C8F-8282-204716E96640}"/>
              </a:ext>
            </a:extLst>
          </p:cNvPr>
          <p:cNvSpPr>
            <a:spLocks noGrp="1"/>
          </p:cNvSpPr>
          <p:nvPr/>
        </p:nvSpPr>
        <p:spPr>
          <a:xfrm>
            <a:off x="571500" y="1619250"/>
            <a:ext cx="11049000" cy="19050"/>
          </a:xfrm>
          <a:prstGeom prst="rect">
            <a:avLst/>
          </a:prstGeom>
          <a:solidFill>
            <a:srgbClr val="007F76"/>
          </a:solidFill>
          <a:ln w="0">
            <a:noFill/>
            <a:prstDash val="solid"/>
          </a:ln>
        </p:spPr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60EAB6CE-8F91-4874-A74D-39C25BA50316}"/>
              </a:ext>
            </a:extLst>
          </p:cNvPr>
          <p:cNvSpPr>
            <a:spLocks noGrp="1"/>
          </p:cNvSpPr>
          <p:nvPr/>
        </p:nvSpPr>
        <p:spPr>
          <a:xfrm>
            <a:off x="11115675" y="6400800"/>
            <a:ext cx="495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 fontScale="89744" lnSpcReduction="10000"/>
          </a:bodyPr>
          <a:lstStyle/>
          <a:p>
            <a:pPr algn="r">
              <a:def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C7ACE6BE-337C-4921-86E8-5EE41EF9A204}"/>
              </a:ext>
            </a:extLst>
          </p:cNvPr>
          <p:cNvSpPr>
            <a:spLocks noGrp="1"/>
          </p:cNvSpPr>
          <p:nvPr/>
        </p:nvSpPr>
        <p:spPr>
          <a:xfrm>
            <a:off x="666750" y="2143125"/>
            <a:ext cx="533400" cy="533400"/>
          </a:xfrm>
          <a:prstGeom prst="roundRect">
            <a:avLst>
              <a:gd name="adj" fmla="val 7143"/>
            </a:avLst>
          </a:prstGeom>
          <a:solidFill>
            <a:srgbClr val="007F76"/>
          </a:solidFill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5C06D757-DF60-43DD-8769-A6D2350BE5EE}"/>
              </a:ext>
            </a:extLst>
          </p:cNvPr>
          <p:cNvSpPr>
            <a:spLocks noGrp="1"/>
          </p:cNvSpPr>
          <p:nvPr/>
        </p:nvSpPr>
        <p:spPr>
          <a:xfrm>
            <a:off x="1390650" y="2124075"/>
            <a:ext cx="4524375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雷达提供角度与距离序列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91D681C6-A177-4F5A-B2FE-D2CEBD94AF49}"/>
              </a:ext>
            </a:extLst>
          </p:cNvPr>
          <p:cNvSpPr>
            <a:spLocks noGrp="1"/>
          </p:cNvSpPr>
          <p:nvPr/>
        </p:nvSpPr>
        <p:spPr>
          <a:xfrm>
            <a:off x="6191250" y="2143125"/>
            <a:ext cx="533400" cy="533400"/>
          </a:xfrm>
          <a:prstGeom prst="roundRect">
            <a:avLst>
              <a:gd name="adj" fmla="val 7143"/>
            </a:avLst>
          </a:prstGeom>
          <a:solidFill>
            <a:srgbClr val="007F76"/>
          </a:solidFill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F9640F65-C755-410B-8AAE-B43476BF40D5}"/>
              </a:ext>
            </a:extLst>
          </p:cNvPr>
          <p:cNvSpPr>
            <a:spLocks noGrp="1"/>
          </p:cNvSpPr>
          <p:nvPr/>
        </p:nvSpPr>
        <p:spPr>
          <a:xfrm>
            <a:off x="6915150" y="2124075"/>
            <a:ext cx="4524375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扫描匹配估计相邻帧位姿变化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73FE8D9D-8646-480E-ACFA-3EA3B848AE4B}"/>
              </a:ext>
            </a:extLst>
          </p:cNvPr>
          <p:cNvSpPr>
            <a:spLocks noGrp="1"/>
          </p:cNvSpPr>
          <p:nvPr/>
        </p:nvSpPr>
        <p:spPr>
          <a:xfrm>
            <a:off x="666750" y="4048125"/>
            <a:ext cx="533400" cy="533400"/>
          </a:xfrm>
          <a:prstGeom prst="roundRect">
            <a:avLst>
              <a:gd name="adj" fmla="val 7143"/>
            </a:avLst>
          </a:prstGeom>
          <a:solidFill>
            <a:srgbClr val="007F76"/>
          </a:solidFill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48920524-0908-4EA4-8805-F80259D00ACA}"/>
              </a:ext>
            </a:extLst>
          </p:cNvPr>
          <p:cNvSpPr>
            <a:spLocks noGrp="1"/>
          </p:cNvSpPr>
          <p:nvPr/>
        </p:nvSpPr>
        <p:spPr>
          <a:xfrm>
            <a:off x="1390650" y="4029075"/>
            <a:ext cx="4524375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位姿用于把扫描投影到统一地图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6948C2A7-0D41-4E9E-A4B8-F19D356A0FF3}"/>
              </a:ext>
            </a:extLst>
          </p:cNvPr>
          <p:cNvSpPr>
            <a:spLocks noGrp="1"/>
          </p:cNvSpPr>
          <p:nvPr/>
        </p:nvSpPr>
        <p:spPr>
          <a:xfrm>
            <a:off x="6191250" y="4048125"/>
            <a:ext cx="533400" cy="533400"/>
          </a:xfrm>
          <a:prstGeom prst="roundRect">
            <a:avLst>
              <a:gd name="adj" fmla="val 7143"/>
            </a:avLst>
          </a:prstGeom>
          <a:solidFill>
            <a:srgbClr val="F28C45"/>
          </a:solidFill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2099AFDE-95E8-4202-B93D-8757B377E84F}"/>
              </a:ext>
            </a:extLst>
          </p:cNvPr>
          <p:cNvSpPr>
            <a:spLocks noGrp="1"/>
          </p:cNvSpPr>
          <p:nvPr/>
        </p:nvSpPr>
        <p:spPr>
          <a:xfrm>
            <a:off x="6915150" y="4029075"/>
            <a:ext cx="4524375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栅格概率随观测持续更新</a:t>
            </a:r>
          </a:p>
        </p:txBody>
      </p:sp>
    </p:spTree>
    <p:extLst>
      <p:ext uri="{BB962C8B-B14F-4D97-AF65-F5344CB8AC3E}">
        <p14:creationId xmlns:p14="http://schemas.microsoft.com/office/powerpoint/2010/main" val="17702546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">
            <a:extLst>
              <a:ext uri="{FF2B5EF4-FFF2-40B4-BE49-F238E27FC236}">
                <a16:creationId xmlns:a16="http://schemas.microsoft.com/office/drawing/2014/main" id="{D3E27A74-9D0C-4BFE-84D8-D7A7B7E334EC}"/>
              </a:ext>
            </a:extLst>
          </p:cNvPr>
          <p:cNvSpPr>
            <a:spLocks noGrp="1"/>
          </p:cNvSpPr>
          <p:nvPr/>
        </p:nvSpPr>
        <p:spPr>
          <a:xfrm>
            <a:off x="571500" y="2476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项目 9  /  激光SLAM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14459CAA-170E-4497-BB54-98BEA81B830E}"/>
              </a:ext>
            </a:extLst>
          </p:cNvPr>
          <p:cNvSpPr>
            <a:spLocks noGrp="1"/>
          </p:cNvSpPr>
          <p:nvPr/>
        </p:nvSpPr>
        <p:spPr>
          <a:xfrm>
            <a:off x="571500" y="628650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N10关键参数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BA2CB9D7-8787-4456-BD0E-595C5CAB30D4}"/>
              </a:ext>
            </a:extLst>
          </p:cNvPr>
          <p:cNvSpPr>
            <a:spLocks noGrp="1"/>
          </p:cNvSpPr>
          <p:nvPr/>
        </p:nvSpPr>
        <p:spPr>
          <a:xfrm>
            <a:off x="590550" y="1247775"/>
            <a:ext cx="1047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35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把参数、公式或规则变成可测量的工程判断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E708E53-D8D0-4093-82EB-C8693A2AC712}"/>
              </a:ext>
            </a:extLst>
          </p:cNvPr>
          <p:cNvSpPr>
            <a:spLocks noGrp="1"/>
          </p:cNvSpPr>
          <p:nvPr/>
        </p:nvSpPr>
        <p:spPr>
          <a:xfrm>
            <a:off x="571500" y="1619250"/>
            <a:ext cx="11049000" cy="19050"/>
          </a:xfrm>
          <a:prstGeom prst="rect">
            <a:avLst/>
          </a:prstGeom>
          <a:solidFill>
            <a:srgbClr val="007F76"/>
          </a:solidFill>
          <a:ln w="0">
            <a:noFill/>
            <a:prstDash val="solid"/>
          </a:ln>
        </p:spPr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7B0C8149-F46A-45C9-B337-A8A13EB9670D}"/>
              </a:ext>
            </a:extLst>
          </p:cNvPr>
          <p:cNvSpPr>
            <a:spLocks noGrp="1"/>
          </p:cNvSpPr>
          <p:nvPr/>
        </p:nvSpPr>
        <p:spPr>
          <a:xfrm>
            <a:off x="11115675" y="6400800"/>
            <a:ext cx="495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 fontScale="89744" lnSpcReduction="10000"/>
          </a:bodyPr>
          <a:lstStyle/>
          <a:p>
            <a:pPr algn="r">
              <a:def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48E9A087-7D36-4D09-B0C1-5AAC4EAB7F3D}"/>
              </a:ext>
            </a:extLst>
          </p:cNvPr>
          <p:cNvSpPr>
            <a:spLocks noGrp="1"/>
          </p:cNvSpPr>
          <p:nvPr/>
        </p:nvSpPr>
        <p:spPr>
          <a:xfrm>
            <a:off x="685800" y="2095500"/>
            <a:ext cx="4762500" cy="3190875"/>
          </a:xfrm>
          <a:prstGeom prst="roundRect">
            <a:avLst>
              <a:gd name="adj" fmla="val 1791"/>
            </a:avLst>
          </a:prstGeom>
          <a:solidFill>
            <a:srgbClr val="10282B"/>
          </a:solidFill>
          <a:ln w="0">
            <a:noFill/>
            <a:prstDash val="solid"/>
          </a:ln>
        </p:spPr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0276904E-9644-41E6-B837-5FC7EB7BB5E3}"/>
              </a:ext>
            </a:extLst>
          </p:cNvPr>
          <p:cNvSpPr>
            <a:spLocks noGrp="1"/>
          </p:cNvSpPr>
          <p:nvPr/>
        </p:nvSpPr>
        <p:spPr>
          <a:xfrm>
            <a:off x="1066800" y="2619375"/>
            <a:ext cx="40005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ctr">
              <a:def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测距方式：TOF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392682B9-B94B-41B8-AA03-0C3A6BD2AA8A}"/>
              </a:ext>
            </a:extLst>
          </p:cNvPr>
          <p:cNvSpPr>
            <a:spLocks noGrp="1"/>
          </p:cNvSpPr>
          <p:nvPr/>
        </p:nvSpPr>
        <p:spPr>
          <a:xfrm>
            <a:off x="1066800" y="3714750"/>
            <a:ext cx="40005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ctr">
              <a:defRPr sz="2025" b="0">
                <a:solidFill>
                  <a:srgbClr val="D8E8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D8E8E6"/>
                </a:solidFill>
                <a:latin typeface="Microsoft YaHei"/>
                <a:ea typeface="Microsoft YaHei"/>
                <a:cs typeface="Microsoft YaHei"/>
              </a:rPr>
              <a:t>扫描范围：360°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97431434-E53F-416C-93B7-742AA2F18198}"/>
              </a:ext>
            </a:extLst>
          </p:cNvPr>
          <p:cNvSpPr>
            <a:spLocks noGrp="1"/>
          </p:cNvSpPr>
          <p:nvPr/>
        </p:nvSpPr>
        <p:spPr>
          <a:xfrm>
            <a:off x="6000750" y="2381250"/>
            <a:ext cx="495300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2325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数据率约4500点/秒，频率6至12 Hz</a:t>
            </a: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8F49D258-CF13-4982-8802-CBFEBEF32743}"/>
              </a:ext>
            </a:extLst>
          </p:cNvPr>
          <p:cNvSpPr>
            <a:spLocks noGrp="1"/>
          </p:cNvSpPr>
          <p:nvPr/>
        </p:nvSpPr>
        <p:spPr>
          <a:xfrm>
            <a:off x="6000750" y="4191000"/>
            <a:ext cx="4953000" cy="1095375"/>
          </a:xfrm>
          <a:prstGeom prst="roundRect">
            <a:avLst>
              <a:gd name="adj" fmla="val 5217"/>
            </a:avLst>
          </a:prstGeom>
          <a:solidFill>
            <a:srgbClr val="F6F8F7"/>
          </a:solidFill>
          <a:ln w="9525">
            <a:solidFill>
              <a:srgbClr val="C7D2D1"/>
            </a:solidFill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72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课堂追问</a:t>
            </a:r>
          </a:p>
          <a:p>
            <a:pPr algn="l">
              <a:defRPr sz="172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这个参数如果偏大或偏小，系统结果会怎样变化？</a:t>
            </a:r>
          </a:p>
        </p:txBody>
      </p:sp>
    </p:spTree>
    <p:extLst>
      <p:ext uri="{BB962C8B-B14F-4D97-AF65-F5344CB8AC3E}">
        <p14:creationId xmlns:p14="http://schemas.microsoft.com/office/powerpoint/2010/main" val="3963308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">
            <a:extLst>
              <a:ext uri="{FF2B5EF4-FFF2-40B4-BE49-F238E27FC236}">
                <a16:creationId xmlns:a16="http://schemas.microsoft.com/office/drawing/2014/main" id="{83C6E305-24AD-4F8D-ABD0-A3451379B5D6}"/>
              </a:ext>
            </a:extLst>
          </p:cNvPr>
          <p:cNvSpPr>
            <a:spLocks noGrp="1"/>
          </p:cNvSpPr>
          <p:nvPr/>
        </p:nvSpPr>
        <p:spPr>
          <a:xfrm>
            <a:off x="571500" y="2476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项目 9  /  激光SLAM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1C7A8A60-BCF3-4AA1-8161-BD1932193C54}"/>
              </a:ext>
            </a:extLst>
          </p:cNvPr>
          <p:cNvSpPr>
            <a:spLocks noGrp="1"/>
          </p:cNvSpPr>
          <p:nvPr/>
        </p:nvSpPr>
        <p:spPr>
          <a:xfrm>
            <a:off x="571500" y="628650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嘉立创EDA可用于记录雷达接口与供电边界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29429A5-CAEA-444C-8FE2-457AC381C0DC}"/>
              </a:ext>
            </a:extLst>
          </p:cNvPr>
          <p:cNvSpPr>
            <a:spLocks noGrp="1"/>
          </p:cNvSpPr>
          <p:nvPr/>
        </p:nvSpPr>
        <p:spPr>
          <a:xfrm>
            <a:off x="571500" y="1619250"/>
            <a:ext cx="11049000" cy="19050"/>
          </a:xfrm>
          <a:prstGeom prst="rect">
            <a:avLst/>
          </a:prstGeom>
          <a:solidFill>
            <a:srgbClr val="007F76"/>
          </a:solidFill>
          <a:ln w="0">
            <a:noFill/>
            <a:prstDash val="solid"/>
          </a:ln>
        </p:spPr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2DF346AA-04AA-4153-8D19-40627823C5A0}"/>
              </a:ext>
            </a:extLst>
          </p:cNvPr>
          <p:cNvSpPr>
            <a:spLocks noGrp="1"/>
          </p:cNvSpPr>
          <p:nvPr/>
        </p:nvSpPr>
        <p:spPr>
          <a:xfrm>
            <a:off x="11115675" y="6400800"/>
            <a:ext cx="495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 fontScale="89744" lnSpcReduction="10000"/>
          </a:bodyPr>
          <a:lstStyle/>
          <a:p>
            <a:pPr algn="r">
              <a:def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7F09D678-6889-49CB-8404-992C783FCEE0}"/>
              </a:ext>
            </a:extLst>
          </p:cNvPr>
          <p:cNvSpPr>
            <a:spLocks noGrp="1"/>
          </p:cNvSpPr>
          <p:nvPr/>
        </p:nvSpPr>
        <p:spPr>
          <a:xfrm>
            <a:off x="666750" y="2047875"/>
            <a:ext cx="5095875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1. 标注雷达供电电压和电流需求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3A614507-6C69-4E54-8155-80C627FE9858}"/>
              </a:ext>
            </a:extLst>
          </p:cNvPr>
          <p:cNvSpPr>
            <a:spLocks noGrp="1"/>
          </p:cNvSpPr>
          <p:nvPr/>
        </p:nvSpPr>
        <p:spPr>
          <a:xfrm>
            <a:off x="666750" y="2924175"/>
            <a:ext cx="5095875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650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2. 串口/USB接口与连接器编号一致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A49F3C6C-4C48-46BE-99D9-E3573F04F773}"/>
              </a:ext>
            </a:extLst>
          </p:cNvPr>
          <p:cNvSpPr>
            <a:spLocks noGrp="1"/>
          </p:cNvSpPr>
          <p:nvPr/>
        </p:nvSpPr>
        <p:spPr>
          <a:xfrm>
            <a:off x="666750" y="3800475"/>
            <a:ext cx="5095875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650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3. 注明GND、TX、RX或USB数据路径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CED9654E-4757-488D-828F-F6138E7346A9}"/>
              </a:ext>
            </a:extLst>
          </p:cNvPr>
          <p:cNvSpPr>
            <a:spLocks noGrp="1"/>
          </p:cNvSpPr>
          <p:nvPr/>
        </p:nvSpPr>
        <p:spPr>
          <a:xfrm>
            <a:off x="666750" y="4676775"/>
            <a:ext cx="5095875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650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4. 实际接线前完成接口表与ERC核对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406C16D6-56A0-4B21-BDDF-571123E46872}"/>
              </a:ext>
            </a:extLst>
          </p:cNvPr>
          <p:cNvSpPr>
            <a:spLocks noGrp="1"/>
          </p:cNvSpPr>
          <p:nvPr/>
        </p:nvSpPr>
        <p:spPr>
          <a:xfrm>
            <a:off x="6134100" y="1990725"/>
            <a:ext cx="5067300" cy="3448050"/>
          </a:xfrm>
          <a:prstGeom prst="roundRect">
            <a:avLst>
              <a:gd name="adj" fmla="val 1657"/>
            </a:avLst>
          </a:prstGeom>
          <a:solidFill>
            <a:srgbClr val="FFFFFF"/>
          </a:solidFill>
          <a:ln w="9525">
            <a:solidFill>
              <a:srgbClr val="C7D2D1"/>
            </a:solidFill>
            <a:prstDash val="solid"/>
          </a:ln>
        </p:spPr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191250" y="2152317"/>
            <a:ext cx="4953000" cy="3124866"/>
          </a:xfrm>
          <a:prstGeom prst="roundRect">
            <a:avLst>
              <a:gd name="adj" fmla="val 1143"/>
            </a:avLst>
          </a:prstGeom>
        </p:spPr>
      </p:pic>
      <p:sp>
        <p:nvSpPr>
          <p:cNvPr id="11" name="text">
            <a:extLst>
              <a:ext uri="{FF2B5EF4-FFF2-40B4-BE49-F238E27FC236}">
                <a16:creationId xmlns:a16="http://schemas.microsoft.com/office/drawing/2014/main" id="{DBB0A00A-DD61-4C0F-8702-9486FB8350CA}"/>
              </a:ext>
            </a:extLst>
          </p:cNvPr>
          <p:cNvSpPr>
            <a:spLocks noGrp="1"/>
          </p:cNvSpPr>
          <p:nvPr/>
        </p:nvSpPr>
        <p:spPr>
          <a:xfrm>
            <a:off x="6191250" y="5572125"/>
            <a:ext cx="4953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ctr">
              <a:defRPr sz="1350" b="1">
                <a:solidFill>
                  <a:srgbClr val="F28C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28C45"/>
                </a:solidFill>
                <a:latin typeface="Microsoft YaHei"/>
                <a:ea typeface="Microsoft YaHei"/>
                <a:cs typeface="Microsoft YaHei"/>
              </a:rPr>
              <a:t>嘉立创EDA任务：原理图、网络名、接口表、ERC</a:t>
            </a:r>
          </a:p>
        </p:txBody>
      </p:sp>
    </p:spTree>
    <p:extLst>
      <p:ext uri="{BB962C8B-B14F-4D97-AF65-F5344CB8AC3E}">
        <p14:creationId xmlns:p14="http://schemas.microsoft.com/office/powerpoint/2010/main" val="1864271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">
            <a:extLst>
              <a:ext uri="{FF2B5EF4-FFF2-40B4-BE49-F238E27FC236}">
                <a16:creationId xmlns:a16="http://schemas.microsoft.com/office/drawing/2014/main" id="{A43753AE-477C-41B7-BFAE-F02A165A722F}"/>
              </a:ext>
            </a:extLst>
          </p:cNvPr>
          <p:cNvSpPr>
            <a:spLocks noGrp="1"/>
          </p:cNvSpPr>
          <p:nvPr/>
        </p:nvSpPr>
        <p:spPr>
          <a:xfrm>
            <a:off x="571500" y="2476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项目 9  /  激光SLAM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3E401C19-C4EB-436F-B920-9EAAF5FDBB59}"/>
              </a:ext>
            </a:extLst>
          </p:cNvPr>
          <p:cNvSpPr>
            <a:spLocks noGrp="1"/>
          </p:cNvSpPr>
          <p:nvPr/>
        </p:nvSpPr>
        <p:spPr>
          <a:xfrm>
            <a:off x="571500" y="628650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五步完成项目主流程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A39C8572-2A12-4EB9-BD44-F8775A14EF1C}"/>
              </a:ext>
            </a:extLst>
          </p:cNvPr>
          <p:cNvSpPr>
            <a:spLocks noGrp="1"/>
          </p:cNvSpPr>
          <p:nvPr/>
        </p:nvSpPr>
        <p:spPr>
          <a:xfrm>
            <a:off x="590550" y="1247775"/>
            <a:ext cx="1047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35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每完成一步就保留一个可追溯证据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B91A0ED-6600-468E-98A4-00C14ED60EBA}"/>
              </a:ext>
            </a:extLst>
          </p:cNvPr>
          <p:cNvSpPr>
            <a:spLocks noGrp="1"/>
          </p:cNvSpPr>
          <p:nvPr/>
        </p:nvSpPr>
        <p:spPr>
          <a:xfrm>
            <a:off x="571500" y="1619250"/>
            <a:ext cx="11049000" cy="19050"/>
          </a:xfrm>
          <a:prstGeom prst="rect">
            <a:avLst/>
          </a:prstGeom>
          <a:solidFill>
            <a:srgbClr val="007F76"/>
          </a:solidFill>
          <a:ln w="0">
            <a:noFill/>
            <a:prstDash val="solid"/>
          </a:ln>
        </p:spPr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EA50B808-43BC-427F-AC43-C20BEEEAEEE0}"/>
              </a:ext>
            </a:extLst>
          </p:cNvPr>
          <p:cNvSpPr>
            <a:spLocks noGrp="1"/>
          </p:cNvSpPr>
          <p:nvPr/>
        </p:nvSpPr>
        <p:spPr>
          <a:xfrm>
            <a:off x="11115675" y="6400800"/>
            <a:ext cx="495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 fontScale="89744" lnSpcReduction="10000"/>
          </a:bodyPr>
          <a:lstStyle/>
          <a:p>
            <a:pPr algn="r">
              <a:def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903BF7CF-0ACC-41A3-8FF4-C602772718FD}"/>
              </a:ext>
            </a:extLst>
          </p:cNvPr>
          <p:cNvSpPr>
            <a:spLocks noGrp="1"/>
          </p:cNvSpPr>
          <p:nvPr/>
        </p:nvSpPr>
        <p:spPr>
          <a:xfrm>
            <a:off x="762000" y="2019300"/>
            <a:ext cx="428625" cy="428625"/>
          </a:xfrm>
          <a:prstGeom prst="roundRect">
            <a:avLst>
              <a:gd name="adj" fmla="val 8889"/>
            </a:avLst>
          </a:prstGeom>
          <a:solidFill>
            <a:srgbClr val="007F76"/>
          </a:solidFill>
          <a:ln w="0">
            <a:noFill/>
            <a:prstDash val="solid"/>
          </a:ln>
        </p:spPr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16475D2C-3E43-4ECB-907A-4A698A04A80D}"/>
              </a:ext>
            </a:extLst>
          </p:cNvPr>
          <p:cNvSpPr>
            <a:spLocks noGrp="1"/>
          </p:cNvSpPr>
          <p:nvPr/>
        </p:nvSpPr>
        <p:spPr>
          <a:xfrm>
            <a:off x="762000" y="2057400"/>
            <a:ext cx="4286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 fontScale="95238"/>
          </a:bodyPr>
          <a:lstStyle/>
          <a:p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82010D29-B7A3-4F94-8931-1399EBEBD79B}"/>
              </a:ext>
            </a:extLst>
          </p:cNvPr>
          <p:cNvSpPr>
            <a:spLocks noGrp="1"/>
          </p:cNvSpPr>
          <p:nvPr/>
        </p:nvSpPr>
        <p:spPr>
          <a:xfrm>
            <a:off x="1428750" y="1990725"/>
            <a:ext cx="8667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创建lidar_ws并加入N10驱动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06653CB0-346F-4456-830D-D40E44B80A07}"/>
              </a:ext>
            </a:extLst>
          </p:cNvPr>
          <p:cNvSpPr>
            <a:spLocks noGrp="1"/>
          </p:cNvSpPr>
          <p:nvPr/>
        </p:nvSpPr>
        <p:spPr>
          <a:xfrm>
            <a:off x="10001250" y="2066925"/>
            <a:ext cx="13811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r">
              <a:defRPr sz="120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截图/原理图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81056097-B2AE-4317-9D39-D7F57634D307}"/>
              </a:ext>
            </a:extLst>
          </p:cNvPr>
          <p:cNvSpPr>
            <a:spLocks noGrp="1"/>
          </p:cNvSpPr>
          <p:nvPr/>
        </p:nvSpPr>
        <p:spPr>
          <a:xfrm>
            <a:off x="762000" y="2838450"/>
            <a:ext cx="428625" cy="428625"/>
          </a:xfrm>
          <a:prstGeom prst="roundRect">
            <a:avLst>
              <a:gd name="adj" fmla="val 8889"/>
            </a:avLst>
          </a:prstGeom>
          <a:solidFill>
            <a:srgbClr val="007F76"/>
          </a:solidFill>
          <a:ln w="0">
            <a:noFill/>
            <a:prstDash val="solid"/>
          </a:ln>
        </p:spPr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111C9116-7828-4E16-9610-E2D7662A1C2E}"/>
              </a:ext>
            </a:extLst>
          </p:cNvPr>
          <p:cNvSpPr>
            <a:spLocks noGrp="1"/>
          </p:cNvSpPr>
          <p:nvPr/>
        </p:nvSpPr>
        <p:spPr>
          <a:xfrm>
            <a:off x="762000" y="2876550"/>
            <a:ext cx="4286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 fontScale="95238"/>
          </a:bodyPr>
          <a:lstStyle/>
          <a:p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FE05BBFE-DAF2-4770-9EB9-C94AD82B38A3}"/>
              </a:ext>
            </a:extLst>
          </p:cNvPr>
          <p:cNvSpPr>
            <a:spLocks noGrp="1"/>
          </p:cNvSpPr>
          <p:nvPr/>
        </p:nvSpPr>
        <p:spPr>
          <a:xfrm>
            <a:off x="1428750" y="2809875"/>
            <a:ext cx="8667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确认/dev/ttyACM0与读写权限</a:t>
            </a:r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304F52D8-C6F5-4CC7-A8B9-A773FBD64493}"/>
              </a:ext>
            </a:extLst>
          </p:cNvPr>
          <p:cNvSpPr>
            <a:spLocks noGrp="1"/>
          </p:cNvSpPr>
          <p:nvPr/>
        </p:nvSpPr>
        <p:spPr>
          <a:xfrm>
            <a:off x="10001250" y="2886075"/>
            <a:ext cx="13811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r">
              <a:defRPr sz="120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配置/接线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1135ACA2-74C4-4B48-97C2-FB0BE14490E9}"/>
              </a:ext>
            </a:extLst>
          </p:cNvPr>
          <p:cNvSpPr>
            <a:spLocks noGrp="1"/>
          </p:cNvSpPr>
          <p:nvPr/>
        </p:nvSpPr>
        <p:spPr>
          <a:xfrm>
            <a:off x="762000" y="3657600"/>
            <a:ext cx="428625" cy="428625"/>
          </a:xfrm>
          <a:prstGeom prst="roundRect">
            <a:avLst>
              <a:gd name="adj" fmla="val 8889"/>
            </a:avLst>
          </a:prstGeom>
          <a:solidFill>
            <a:srgbClr val="007F76"/>
          </a:solidFill>
          <a:ln w="0">
            <a:noFill/>
            <a:prstDash val="solid"/>
          </a:ln>
        </p:spPr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3546439D-7957-4215-81C6-002E7A4BE078}"/>
              </a:ext>
            </a:extLst>
          </p:cNvPr>
          <p:cNvSpPr>
            <a:spLocks noGrp="1"/>
          </p:cNvSpPr>
          <p:nvPr/>
        </p:nvSpPr>
        <p:spPr>
          <a:xfrm>
            <a:off x="762000" y="3695700"/>
            <a:ext cx="4286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 fontScale="95238"/>
          </a:bodyPr>
          <a:lstStyle/>
          <a:p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47245AA9-5667-4698-B29B-EA911858932F}"/>
              </a:ext>
            </a:extLst>
          </p:cNvPr>
          <p:cNvSpPr>
            <a:spLocks noGrp="1"/>
          </p:cNvSpPr>
          <p:nvPr/>
        </p:nvSpPr>
        <p:spPr>
          <a:xfrm>
            <a:off x="1428750" y="3629025"/>
            <a:ext cx="8667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编译lslidar_msgs和驱动</a:t>
            </a:r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AB6F2F08-EF38-4819-A120-D44FC4BDCB89}"/>
              </a:ext>
            </a:extLst>
          </p:cNvPr>
          <p:cNvSpPr>
            <a:spLocks noGrp="1"/>
          </p:cNvSpPr>
          <p:nvPr/>
        </p:nvSpPr>
        <p:spPr>
          <a:xfrm>
            <a:off x="10001250" y="3705225"/>
            <a:ext cx="13811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r">
              <a:defRPr sz="120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编译/上传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C8E02387-F0F4-42C0-AB39-F6EF164CE2A1}"/>
              </a:ext>
            </a:extLst>
          </p:cNvPr>
          <p:cNvSpPr>
            <a:spLocks noGrp="1"/>
          </p:cNvSpPr>
          <p:nvPr/>
        </p:nvSpPr>
        <p:spPr>
          <a:xfrm>
            <a:off x="762000" y="4476750"/>
            <a:ext cx="428625" cy="428625"/>
          </a:xfrm>
          <a:prstGeom prst="roundRect">
            <a:avLst>
              <a:gd name="adj" fmla="val 8889"/>
            </a:avLst>
          </a:prstGeom>
          <a:solidFill>
            <a:srgbClr val="007F76"/>
          </a:solidFill>
          <a:ln w="0">
            <a:noFill/>
            <a:prstDash val="solid"/>
          </a:ln>
        </p:spPr>
      </p:sp>
      <p:sp>
        <p:nvSpPr>
          <p:cNvPr id="19" name="text">
            <a:extLst>
              <a:ext uri="{FF2B5EF4-FFF2-40B4-BE49-F238E27FC236}">
                <a16:creationId xmlns:a16="http://schemas.microsoft.com/office/drawing/2014/main" id="{B9407673-D57B-4F22-A51D-E4DCDA31365A}"/>
              </a:ext>
            </a:extLst>
          </p:cNvPr>
          <p:cNvSpPr>
            <a:spLocks noGrp="1"/>
          </p:cNvSpPr>
          <p:nvPr/>
        </p:nvSpPr>
        <p:spPr>
          <a:xfrm>
            <a:off x="762000" y="4514850"/>
            <a:ext cx="4286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 fontScale="95238"/>
          </a:bodyPr>
          <a:lstStyle/>
          <a:p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0" name="text">
            <a:extLst>
              <a:ext uri="{FF2B5EF4-FFF2-40B4-BE49-F238E27FC236}">
                <a16:creationId xmlns:a16="http://schemas.microsoft.com/office/drawing/2014/main" id="{C17FD34D-1B0B-4198-AED0-CBB3AE90A5A1}"/>
              </a:ext>
            </a:extLst>
          </p:cNvPr>
          <p:cNvSpPr>
            <a:spLocks noGrp="1"/>
          </p:cNvSpPr>
          <p:nvPr/>
        </p:nvSpPr>
        <p:spPr>
          <a:xfrm>
            <a:off x="1428750" y="4448175"/>
            <a:ext cx="8667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安装Hector SLAM并创建slam_pkg</a:t>
            </a:r>
          </a:p>
        </p:txBody>
      </p:sp>
      <p:sp>
        <p:nvSpPr>
          <p:cNvPr id="21" name="text">
            <a:extLst>
              <a:ext uri="{FF2B5EF4-FFF2-40B4-BE49-F238E27FC236}">
                <a16:creationId xmlns:a16="http://schemas.microsoft.com/office/drawing/2014/main" id="{52ADF892-8A76-44DF-9828-B5A3DFEAB756}"/>
              </a:ext>
            </a:extLst>
          </p:cNvPr>
          <p:cNvSpPr>
            <a:spLocks noGrp="1"/>
          </p:cNvSpPr>
          <p:nvPr/>
        </p:nvSpPr>
        <p:spPr>
          <a:xfrm>
            <a:off x="10001250" y="4524375"/>
            <a:ext cx="13811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r">
              <a:defRPr sz="120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数据/话题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DBA2AFB8-1B9D-4650-AAB8-3535FB4223B9}"/>
              </a:ext>
            </a:extLst>
          </p:cNvPr>
          <p:cNvSpPr>
            <a:spLocks noGrp="1"/>
          </p:cNvSpPr>
          <p:nvPr/>
        </p:nvSpPr>
        <p:spPr>
          <a:xfrm>
            <a:off x="762000" y="5295900"/>
            <a:ext cx="428625" cy="428625"/>
          </a:xfrm>
          <a:prstGeom prst="roundRect">
            <a:avLst>
              <a:gd name="adj" fmla="val 8889"/>
            </a:avLst>
          </a:prstGeom>
          <a:solidFill>
            <a:srgbClr val="F28C45"/>
          </a:solidFill>
          <a:ln w="0">
            <a:noFill/>
            <a:prstDash val="solid"/>
          </a:ln>
        </p:spPr>
      </p:sp>
      <p:sp>
        <p:nvSpPr>
          <p:cNvPr id="23" name="text">
            <a:extLst>
              <a:ext uri="{FF2B5EF4-FFF2-40B4-BE49-F238E27FC236}">
                <a16:creationId xmlns:a16="http://schemas.microsoft.com/office/drawing/2014/main" id="{8B696DF6-8DE4-40DD-BA2F-0D668C422529}"/>
              </a:ext>
            </a:extLst>
          </p:cNvPr>
          <p:cNvSpPr>
            <a:spLocks noGrp="1"/>
          </p:cNvSpPr>
          <p:nvPr/>
        </p:nvSpPr>
        <p:spPr>
          <a:xfrm>
            <a:off x="762000" y="5334000"/>
            <a:ext cx="4286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 fontScale="95238"/>
          </a:bodyPr>
          <a:lstStyle/>
          <a:p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4" name="text">
            <a:extLst>
              <a:ext uri="{FF2B5EF4-FFF2-40B4-BE49-F238E27FC236}">
                <a16:creationId xmlns:a16="http://schemas.microsoft.com/office/drawing/2014/main" id="{0F93FAB2-08D1-4C9D-AD0C-E8C494E2EB2A}"/>
              </a:ext>
            </a:extLst>
          </p:cNvPr>
          <p:cNvSpPr>
            <a:spLocks noGrp="1"/>
          </p:cNvSpPr>
          <p:nvPr/>
        </p:nvSpPr>
        <p:spPr>
          <a:xfrm>
            <a:off x="1428750" y="5267325"/>
            <a:ext cx="8667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roslaunch后缓慢移动雷达建图</a:t>
            </a:r>
          </a:p>
        </p:txBody>
      </p:sp>
      <p:sp>
        <p:nvSpPr>
          <p:cNvPr id="25" name="text">
            <a:extLst>
              <a:ext uri="{FF2B5EF4-FFF2-40B4-BE49-F238E27FC236}">
                <a16:creationId xmlns:a16="http://schemas.microsoft.com/office/drawing/2014/main" id="{0466E32F-7A3E-4032-8B43-805E00A033AF}"/>
              </a:ext>
            </a:extLst>
          </p:cNvPr>
          <p:cNvSpPr>
            <a:spLocks noGrp="1"/>
          </p:cNvSpPr>
          <p:nvPr/>
        </p:nvSpPr>
        <p:spPr>
          <a:xfrm>
            <a:off x="10001250" y="5343525"/>
            <a:ext cx="13811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r">
              <a:defRPr sz="120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运行结果</a:t>
            </a:r>
          </a:p>
        </p:txBody>
      </p:sp>
    </p:spTree>
    <p:extLst>
      <p:ext uri="{BB962C8B-B14F-4D97-AF65-F5344CB8AC3E}">
        <p14:creationId xmlns:p14="http://schemas.microsoft.com/office/powerpoint/2010/main" val="1636616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">
            <a:extLst>
              <a:ext uri="{FF2B5EF4-FFF2-40B4-BE49-F238E27FC236}">
                <a16:creationId xmlns:a16="http://schemas.microsoft.com/office/drawing/2014/main" id="{F5B85274-9F6E-44C9-A956-23E6D93B600A}"/>
              </a:ext>
            </a:extLst>
          </p:cNvPr>
          <p:cNvSpPr>
            <a:spLocks noGrp="1"/>
          </p:cNvSpPr>
          <p:nvPr/>
        </p:nvSpPr>
        <p:spPr>
          <a:xfrm>
            <a:off x="571500" y="2476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项目 9  /  激光SLAM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70CE17A8-E076-4BCD-88C8-5EA7B8C26388}"/>
              </a:ext>
            </a:extLst>
          </p:cNvPr>
          <p:cNvSpPr>
            <a:spLocks noGrp="1"/>
          </p:cNvSpPr>
          <p:nvPr/>
        </p:nvSpPr>
        <p:spPr>
          <a:xfrm>
            <a:off x="571500" y="628650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工作空间与启动主线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DECA5AB5-6861-4342-9C41-AD8D574219C0}"/>
              </a:ext>
            </a:extLst>
          </p:cNvPr>
          <p:cNvSpPr>
            <a:spLocks noGrp="1"/>
          </p:cNvSpPr>
          <p:nvPr/>
        </p:nvSpPr>
        <p:spPr>
          <a:xfrm>
            <a:off x="590550" y="1247775"/>
            <a:ext cx="1047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35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先读输入与输出，再读关键参数和异常分支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4113D47-F93B-4D55-8D39-7A3DA6214D1C}"/>
              </a:ext>
            </a:extLst>
          </p:cNvPr>
          <p:cNvSpPr>
            <a:spLocks noGrp="1"/>
          </p:cNvSpPr>
          <p:nvPr/>
        </p:nvSpPr>
        <p:spPr>
          <a:xfrm>
            <a:off x="571500" y="1619250"/>
            <a:ext cx="11049000" cy="19050"/>
          </a:xfrm>
          <a:prstGeom prst="rect">
            <a:avLst/>
          </a:prstGeom>
          <a:solidFill>
            <a:srgbClr val="007F76"/>
          </a:solidFill>
          <a:ln w="0">
            <a:noFill/>
            <a:prstDash val="solid"/>
          </a:ln>
        </p:spPr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E1CA07AB-EFEC-4F1C-A686-71705984494F}"/>
              </a:ext>
            </a:extLst>
          </p:cNvPr>
          <p:cNvSpPr>
            <a:spLocks noGrp="1"/>
          </p:cNvSpPr>
          <p:nvPr/>
        </p:nvSpPr>
        <p:spPr>
          <a:xfrm>
            <a:off x="11115675" y="6400800"/>
            <a:ext cx="495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 fontScale="89744" lnSpcReduction="10000"/>
          </a:bodyPr>
          <a:lstStyle/>
          <a:p>
            <a:pPr algn="r">
              <a:def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792B9BA4-97EE-43CB-8B43-FEDF9F72403B}"/>
              </a:ext>
            </a:extLst>
          </p:cNvPr>
          <p:cNvSpPr>
            <a:spLocks noGrp="1"/>
          </p:cNvSpPr>
          <p:nvPr/>
        </p:nvSpPr>
        <p:spPr>
          <a:xfrm>
            <a:off x="590550" y="1952625"/>
            <a:ext cx="7429500" cy="3952875"/>
          </a:xfrm>
          <a:prstGeom prst="roundRect">
            <a:avLst>
              <a:gd name="adj" fmla="val 1446"/>
            </a:avLst>
          </a:prstGeom>
          <a:solidFill>
            <a:srgbClr val="10282B"/>
          </a:solidFill>
          <a:ln w="0">
            <a:noFill/>
            <a:prstDash val="solid"/>
          </a:ln>
        </p:spPr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141CB4A2-EA81-482C-B61D-92C852033CF4}"/>
              </a:ext>
            </a:extLst>
          </p:cNvPr>
          <p:cNvSpPr>
            <a:spLocks noGrp="1"/>
          </p:cNvSpPr>
          <p:nvPr/>
        </p:nvSpPr>
        <p:spPr>
          <a:xfrm>
            <a:off x="828675" y="2171700"/>
            <a:ext cx="6953250" cy="3524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425" b="0">
                <a:solidFill>
                  <a:srgbClr val="E9F4F2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9F4F2"/>
                </a:solidFill>
                <a:latin typeface="Consolas"/>
                <a:ea typeface="Consolas"/>
                <a:cs typeface="Consolas"/>
              </a:rPr>
              <a:t>mkdir -p ~/lidar_ws/src</a:t>
            </a:r>
          </a:p>
          <a:p>
            <a:pPr algn="l">
              <a:defRPr sz="1425" b="0">
                <a:solidFill>
                  <a:srgbClr val="E9F4F2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9F4F2"/>
                </a:solidFill>
                <a:latin typeface="Consolas"/>
                <a:ea typeface="Consolas"/>
                <a:cs typeface="Consolas"/>
              </a:rPr>
              <a:t>cd ~/lidar_ws/src</a:t>
            </a:r>
          </a:p>
          <a:p>
            <a:pPr algn="l">
              <a:defRPr sz="1425" b="0">
                <a:solidFill>
                  <a:srgbClr val="E9F4F2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9F4F2"/>
                </a:solidFill>
                <a:latin typeface="Consolas"/>
                <a:ea typeface="Consolas"/>
                <a:cs typeface="Consolas"/>
              </a:rPr>
              <a:t>git clone -b N10_V1.0 https://github.com/Lslidar/Lslidar_ROS1_driver.git</a:t>
            </a:r>
          </a:p>
          <a:p>
            <a:pPr algn="l">
              <a:defRPr sz="1425" b="0">
                <a:solidFill>
                  <a:srgbClr val="E9F4F2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9F4F2"/>
                </a:solidFill>
                <a:latin typeface="Consolas"/>
                <a:ea typeface="Consolas"/>
                <a:cs typeface="Consolas"/>
              </a:rPr>
              <a:t>git clone https://github.com/tu-darmstadt-ros-pkg/hector_slam.git</a:t>
            </a:r>
          </a:p>
          <a:p>
            <a:pPr algn="l">
              <a:defRPr sz="1425" b="0">
                <a:solidFill>
                  <a:srgbClr val="E9F4F2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9F4F2"/>
                </a:solidFill>
                <a:latin typeface="Consolas"/>
                <a:ea typeface="Consolas"/>
                <a:cs typeface="Consolas"/>
              </a:rPr>
              <a:t>cd ~/lidar_ws</a:t>
            </a:r>
          </a:p>
          <a:p>
            <a:pPr algn="l">
              <a:defRPr sz="1425" b="0">
                <a:solidFill>
                  <a:srgbClr val="E9F4F2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9F4F2"/>
                </a:solidFill>
                <a:latin typeface="Consolas"/>
                <a:ea typeface="Consolas"/>
                <a:cs typeface="Consolas"/>
              </a:rPr>
              <a:t>catkin_make</a:t>
            </a:r>
          </a:p>
          <a:p>
            <a:pPr algn="l">
              <a:defRPr sz="1425" b="0">
                <a:solidFill>
                  <a:srgbClr val="E9F4F2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9F4F2"/>
                </a:solidFill>
                <a:latin typeface="Consolas"/>
                <a:ea typeface="Consolas"/>
                <a:cs typeface="Consolas"/>
              </a:rPr>
              <a:t>source devel/setup.bash</a:t>
            </a:r>
          </a:p>
          <a:p>
            <a:pPr algn="l">
              <a:defRPr sz="1425" b="0">
                <a:solidFill>
                  <a:srgbClr val="E9F4F2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9F4F2"/>
                </a:solidFill>
                <a:latin typeface="Consolas"/>
                <a:ea typeface="Consolas"/>
                <a:cs typeface="Consolas"/>
              </a:rPr>
              <a:t>roslaunch slam_pkg run.launch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6CA8D1E4-100E-4788-9C4E-EB21BDFB842B}"/>
              </a:ext>
            </a:extLst>
          </p:cNvPr>
          <p:cNvSpPr>
            <a:spLocks noGrp="1"/>
          </p:cNvSpPr>
          <p:nvPr/>
        </p:nvSpPr>
        <p:spPr>
          <a:xfrm>
            <a:off x="8572500" y="2143125"/>
            <a:ext cx="2333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875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代码走读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AAD60D3E-197A-4AA9-A633-67010509ADB2}"/>
              </a:ext>
            </a:extLst>
          </p:cNvPr>
          <p:cNvSpPr>
            <a:spLocks noGrp="1"/>
          </p:cNvSpPr>
          <p:nvPr/>
        </p:nvSpPr>
        <p:spPr>
          <a:xfrm>
            <a:off x="8572500" y="2714625"/>
            <a:ext cx="2476500" cy="2571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1  输入从哪里来</a:t>
            </a:r>
          </a:p>
          <a:p>
            <a:endParaRPr sz="1650" b="1">
              <a:solidFill>
                <a:srgbClr val="17232B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2  数据类型是什么</a:t>
            </a:r>
          </a:p>
          <a:p>
            <a:endParaRPr sz="1650" b="1">
              <a:solidFill>
                <a:srgbClr val="17232B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3  哪些参数可调</a:t>
            </a:r>
          </a:p>
          <a:p>
            <a:endParaRPr sz="1650" b="1">
              <a:solidFill>
                <a:srgbClr val="17232B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4  失败时如何处理</a:t>
            </a:r>
          </a:p>
        </p:txBody>
      </p:sp>
    </p:spTree>
    <p:extLst>
      <p:ext uri="{BB962C8B-B14F-4D97-AF65-F5344CB8AC3E}">
        <p14:creationId xmlns:p14="http://schemas.microsoft.com/office/powerpoint/2010/main" val="8660265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">
            <a:extLst>
              <a:ext uri="{FF2B5EF4-FFF2-40B4-BE49-F238E27FC236}">
                <a16:creationId xmlns:a16="http://schemas.microsoft.com/office/drawing/2014/main" id="{03EF5382-F3B8-4087-A9E4-9ACCE97BA096}"/>
              </a:ext>
            </a:extLst>
          </p:cNvPr>
          <p:cNvSpPr>
            <a:spLocks noGrp="1"/>
          </p:cNvSpPr>
          <p:nvPr/>
        </p:nvSpPr>
        <p:spPr>
          <a:xfrm>
            <a:off x="571500" y="2476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项目 9  /  激光SLAM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DE66CECE-030B-4348-A442-7EEE56D5FFF1}"/>
              </a:ext>
            </a:extLst>
          </p:cNvPr>
          <p:cNvSpPr>
            <a:spLocks noGrp="1"/>
          </p:cNvSpPr>
          <p:nvPr/>
        </p:nvSpPr>
        <p:spPr>
          <a:xfrm>
            <a:off x="571500" y="628650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调试从现象出发，用证据缩小范围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DEFBDCF-2D47-4204-91B4-38055FFC2572}"/>
              </a:ext>
            </a:extLst>
          </p:cNvPr>
          <p:cNvSpPr>
            <a:spLocks noGrp="1"/>
          </p:cNvSpPr>
          <p:nvPr/>
        </p:nvSpPr>
        <p:spPr>
          <a:xfrm>
            <a:off x="571500" y="1619250"/>
            <a:ext cx="11049000" cy="19050"/>
          </a:xfrm>
          <a:prstGeom prst="rect">
            <a:avLst/>
          </a:prstGeom>
          <a:solidFill>
            <a:srgbClr val="007F76"/>
          </a:solidFill>
          <a:ln w="0">
            <a:noFill/>
            <a:prstDash val="solid"/>
          </a:ln>
        </p:spPr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D40B86AC-5438-46FF-8F2B-58EE31A61A10}"/>
              </a:ext>
            </a:extLst>
          </p:cNvPr>
          <p:cNvSpPr>
            <a:spLocks noGrp="1"/>
          </p:cNvSpPr>
          <p:nvPr/>
        </p:nvSpPr>
        <p:spPr>
          <a:xfrm>
            <a:off x="11115675" y="6400800"/>
            <a:ext cx="495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 fontScale="89744" lnSpcReduction="10000"/>
          </a:bodyPr>
          <a:lstStyle/>
          <a:p>
            <a:pPr algn="r">
              <a:def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DAD40AD3-5A9C-482D-ABDC-92D9F46A6E8E}"/>
              </a:ext>
            </a:extLst>
          </p:cNvPr>
          <p:cNvSpPr>
            <a:spLocks noGrp="1"/>
          </p:cNvSpPr>
          <p:nvPr/>
        </p:nvSpPr>
        <p:spPr>
          <a:xfrm>
            <a:off x="609600" y="2038350"/>
            <a:ext cx="4543425" cy="3257550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9525">
            <a:solidFill>
              <a:srgbClr val="C7D2D1"/>
            </a:solidFill>
            <a:prstDash val="solid"/>
          </a:ln>
        </p:spPr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66750" y="2855620"/>
            <a:ext cx="4429125" cy="1623009"/>
          </a:xfrm>
          <a:prstGeom prst="roundRect">
            <a:avLst>
              <a:gd name="adj" fmla="val 1212"/>
            </a:avLst>
          </a:prstGeom>
        </p:spPr>
      </p:pic>
      <p:sp>
        <p:nvSpPr>
          <p:cNvPr id="7" name="text">
            <a:extLst>
              <a:ext uri="{FF2B5EF4-FFF2-40B4-BE49-F238E27FC236}">
                <a16:creationId xmlns:a16="http://schemas.microsoft.com/office/drawing/2014/main" id="{6950A0BB-D838-4ABE-9240-E65623488BAC}"/>
              </a:ext>
            </a:extLst>
          </p:cNvPr>
          <p:cNvSpPr>
            <a:spLocks noGrp="1"/>
          </p:cNvSpPr>
          <p:nvPr/>
        </p:nvSpPr>
        <p:spPr>
          <a:xfrm>
            <a:off x="5667375" y="2028825"/>
            <a:ext cx="19526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5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无LaserScan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69FE45B3-88C7-435E-B1E9-50F4CA0AFA57}"/>
              </a:ext>
            </a:extLst>
          </p:cNvPr>
          <p:cNvSpPr>
            <a:spLocks noGrp="1"/>
          </p:cNvSpPr>
          <p:nvPr/>
        </p:nvSpPr>
        <p:spPr>
          <a:xfrm>
            <a:off x="7667625" y="2028825"/>
            <a:ext cx="34766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425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检查端口、波特率、设备型号参数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81E0955-D0D2-4741-9215-3D18D5329C16}"/>
              </a:ext>
            </a:extLst>
          </p:cNvPr>
          <p:cNvSpPr>
            <a:spLocks noGrp="1"/>
          </p:cNvSpPr>
          <p:nvPr/>
        </p:nvSpPr>
        <p:spPr>
          <a:xfrm>
            <a:off x="5667375" y="2657475"/>
            <a:ext cx="5476875" cy="9525"/>
          </a:xfrm>
          <a:prstGeom prst="rect">
            <a:avLst/>
          </a:prstGeom>
          <a:solidFill>
            <a:srgbClr val="C7D2D1"/>
          </a:solidFill>
          <a:ln w="0">
            <a:noFill/>
            <a:prstDash val="solid"/>
          </a:ln>
        </p:spPr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BB1C2FD9-FF19-4954-A4E8-AB46AAADD7E9}"/>
              </a:ext>
            </a:extLst>
          </p:cNvPr>
          <p:cNvSpPr>
            <a:spLocks noGrp="1"/>
          </p:cNvSpPr>
          <p:nvPr/>
        </p:nvSpPr>
        <p:spPr>
          <a:xfrm>
            <a:off x="5667375" y="2943225"/>
            <a:ext cx="19526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5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RViz无数据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77E9FD56-F57A-4F7E-AE5D-3EE6541EE0DC}"/>
              </a:ext>
            </a:extLst>
          </p:cNvPr>
          <p:cNvSpPr>
            <a:spLocks noGrp="1"/>
          </p:cNvSpPr>
          <p:nvPr/>
        </p:nvSpPr>
        <p:spPr>
          <a:xfrm>
            <a:off x="7667625" y="2943225"/>
            <a:ext cx="34766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425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核对Fixed Frame与话题名称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D301CF9-4BD8-4AC4-89BB-061B5C4029DA}"/>
              </a:ext>
            </a:extLst>
          </p:cNvPr>
          <p:cNvSpPr>
            <a:spLocks noGrp="1"/>
          </p:cNvSpPr>
          <p:nvPr/>
        </p:nvSpPr>
        <p:spPr>
          <a:xfrm>
            <a:off x="5667375" y="3571875"/>
            <a:ext cx="5476875" cy="9525"/>
          </a:xfrm>
          <a:prstGeom prst="rect">
            <a:avLst/>
          </a:prstGeom>
          <a:solidFill>
            <a:srgbClr val="C7D2D1"/>
          </a:solidFill>
          <a:ln w="0">
            <a:noFill/>
            <a:prstDash val="solid"/>
          </a:ln>
        </p:spPr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B2E7ED47-0D04-407A-9D16-F40B4177BDC5}"/>
              </a:ext>
            </a:extLst>
          </p:cNvPr>
          <p:cNvSpPr>
            <a:spLocks noGrp="1"/>
          </p:cNvSpPr>
          <p:nvPr/>
        </p:nvSpPr>
        <p:spPr>
          <a:xfrm>
            <a:off x="5667375" y="3857625"/>
            <a:ext cx="19526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5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地图扭曲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B14EE092-4D22-4F4E-8825-E45EC5924F78}"/>
              </a:ext>
            </a:extLst>
          </p:cNvPr>
          <p:cNvSpPr>
            <a:spLocks noGrp="1"/>
          </p:cNvSpPr>
          <p:nvPr/>
        </p:nvSpPr>
        <p:spPr>
          <a:xfrm>
            <a:off x="7667625" y="3857625"/>
            <a:ext cx="34766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425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降低移动速度并减少振动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04028A1-CC90-4E0C-B18A-3415FD1C78CF}"/>
              </a:ext>
            </a:extLst>
          </p:cNvPr>
          <p:cNvSpPr>
            <a:spLocks noGrp="1"/>
          </p:cNvSpPr>
          <p:nvPr/>
        </p:nvSpPr>
        <p:spPr>
          <a:xfrm>
            <a:off x="5667375" y="4486275"/>
            <a:ext cx="5476875" cy="9525"/>
          </a:xfrm>
          <a:prstGeom prst="rect">
            <a:avLst/>
          </a:prstGeom>
          <a:solidFill>
            <a:srgbClr val="C7D2D1"/>
          </a:solidFill>
          <a:ln w="0">
            <a:noFill/>
            <a:prstDash val="solid"/>
          </a:ln>
        </p:spPr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DEE4AF0A-9A92-4FF0-B739-6A21244231F1}"/>
              </a:ext>
            </a:extLst>
          </p:cNvPr>
          <p:cNvSpPr>
            <a:spLocks noGrp="1"/>
          </p:cNvSpPr>
          <p:nvPr/>
        </p:nvSpPr>
        <p:spPr>
          <a:xfrm>
            <a:off x="5667375" y="4772025"/>
            <a:ext cx="19526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500" b="1">
                <a:solidFill>
                  <a:srgbClr val="F28C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28C45"/>
                </a:solidFill>
                <a:latin typeface="Microsoft YaHei"/>
                <a:ea typeface="Microsoft YaHei"/>
                <a:cs typeface="Microsoft YaHei"/>
              </a:rPr>
              <a:t>地图漂移</a:t>
            </a:r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BFFB839D-51A6-4578-9257-416E81601DDF}"/>
              </a:ext>
            </a:extLst>
          </p:cNvPr>
          <p:cNvSpPr>
            <a:spLocks noGrp="1"/>
          </p:cNvSpPr>
          <p:nvPr/>
        </p:nvSpPr>
        <p:spPr>
          <a:xfrm>
            <a:off x="7667625" y="4772025"/>
            <a:ext cx="34766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425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增加场景几何特征，避免长直走廊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AD38885-D0C6-40FF-BD92-BEF387DAC9FB}"/>
              </a:ext>
            </a:extLst>
          </p:cNvPr>
          <p:cNvSpPr>
            <a:spLocks noGrp="1"/>
          </p:cNvSpPr>
          <p:nvPr/>
        </p:nvSpPr>
        <p:spPr>
          <a:xfrm>
            <a:off x="5667375" y="5400675"/>
            <a:ext cx="5476875" cy="9525"/>
          </a:xfrm>
          <a:prstGeom prst="rect">
            <a:avLst/>
          </a:prstGeom>
          <a:solidFill>
            <a:srgbClr val="C7D2D1"/>
          </a:solidFill>
          <a:ln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6759936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">
            <a:extLst>
              <a:ext uri="{FF2B5EF4-FFF2-40B4-BE49-F238E27FC236}">
                <a16:creationId xmlns:a16="http://schemas.microsoft.com/office/drawing/2014/main" id="{519BA4F7-2909-43FB-A9F5-1C77A6545167}"/>
              </a:ext>
            </a:extLst>
          </p:cNvPr>
          <p:cNvSpPr>
            <a:spLocks noGrp="1"/>
          </p:cNvSpPr>
          <p:nvPr/>
        </p:nvSpPr>
        <p:spPr>
          <a:xfrm>
            <a:off x="571500" y="2476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项目 9  /  激光SLAM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F5D279DF-38B0-4D6D-9D89-D4CA5BD90A80}"/>
              </a:ext>
            </a:extLst>
          </p:cNvPr>
          <p:cNvSpPr>
            <a:spLocks noGrp="1"/>
          </p:cNvSpPr>
          <p:nvPr/>
        </p:nvSpPr>
        <p:spPr>
          <a:xfrm>
            <a:off x="571500" y="628650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验收看证据，不只看“能运行”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E95ED436-42A1-40F2-A2B9-711B5A442266}"/>
              </a:ext>
            </a:extLst>
          </p:cNvPr>
          <p:cNvSpPr>
            <a:spLocks noGrp="1"/>
          </p:cNvSpPr>
          <p:nvPr/>
        </p:nvSpPr>
        <p:spPr>
          <a:xfrm>
            <a:off x="590550" y="1247775"/>
            <a:ext cx="1047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35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小组展示时按四项逐一核验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80C4EF4-9B8C-4643-8953-041226940B3A}"/>
              </a:ext>
            </a:extLst>
          </p:cNvPr>
          <p:cNvSpPr>
            <a:spLocks noGrp="1"/>
          </p:cNvSpPr>
          <p:nvPr/>
        </p:nvSpPr>
        <p:spPr>
          <a:xfrm>
            <a:off x="571500" y="1619250"/>
            <a:ext cx="11049000" cy="19050"/>
          </a:xfrm>
          <a:prstGeom prst="rect">
            <a:avLst/>
          </a:prstGeom>
          <a:solidFill>
            <a:srgbClr val="007F76"/>
          </a:solidFill>
          <a:ln w="0">
            <a:noFill/>
            <a:prstDash val="solid"/>
          </a:ln>
        </p:spPr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964CC1DE-F071-4F1F-ADFF-753B67FFCF49}"/>
              </a:ext>
            </a:extLst>
          </p:cNvPr>
          <p:cNvSpPr>
            <a:spLocks noGrp="1"/>
          </p:cNvSpPr>
          <p:nvPr/>
        </p:nvSpPr>
        <p:spPr>
          <a:xfrm>
            <a:off x="11115675" y="6400800"/>
            <a:ext cx="495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 fontScale="89744" lnSpcReduction="10000"/>
          </a:bodyPr>
          <a:lstStyle/>
          <a:p>
            <a:pPr algn="r">
              <a:def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D0BB864D-2E09-4FFB-B5EA-CC3C7CC9E9A4}"/>
              </a:ext>
            </a:extLst>
          </p:cNvPr>
          <p:cNvSpPr>
            <a:spLocks noGrp="1"/>
          </p:cNvSpPr>
          <p:nvPr/>
        </p:nvSpPr>
        <p:spPr>
          <a:xfrm>
            <a:off x="714375" y="2095500"/>
            <a:ext cx="4762500" cy="1285875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C7D2D1"/>
            </a:solidFill>
            <a:prstDash val="solid"/>
          </a:ln>
        </p:spPr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F1572B21-314E-45F3-812A-BADBAF8B0D88}"/>
              </a:ext>
            </a:extLst>
          </p:cNvPr>
          <p:cNvSpPr>
            <a:spLocks noGrp="1"/>
          </p:cNvSpPr>
          <p:nvPr/>
        </p:nvSpPr>
        <p:spPr>
          <a:xfrm>
            <a:off x="942975" y="2324100"/>
            <a:ext cx="666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25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62768477-F7D3-418E-AE67-D186D072D8E4}"/>
              </a:ext>
            </a:extLst>
          </p:cNvPr>
          <p:cNvSpPr>
            <a:spLocks noGrp="1"/>
          </p:cNvSpPr>
          <p:nvPr/>
        </p:nvSpPr>
        <p:spPr>
          <a:xfrm>
            <a:off x="1714500" y="2324100"/>
            <a:ext cx="3333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725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雷达扫描可在RViz显示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BCD04C77-DB05-4846-8C5C-CF2EB0E0ECE5}"/>
              </a:ext>
            </a:extLst>
          </p:cNvPr>
          <p:cNvSpPr>
            <a:spLocks noGrp="1"/>
          </p:cNvSpPr>
          <p:nvPr/>
        </p:nvSpPr>
        <p:spPr>
          <a:xfrm>
            <a:off x="6238875" y="2095500"/>
            <a:ext cx="4762500" cy="1285875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C7D2D1"/>
            </a:solidFill>
            <a:prstDash val="solid"/>
          </a:ln>
        </p:spPr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D85B8E70-168E-489D-B572-A46AC301B6E2}"/>
              </a:ext>
            </a:extLst>
          </p:cNvPr>
          <p:cNvSpPr>
            <a:spLocks noGrp="1"/>
          </p:cNvSpPr>
          <p:nvPr/>
        </p:nvSpPr>
        <p:spPr>
          <a:xfrm>
            <a:off x="6467475" y="2324100"/>
            <a:ext cx="666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25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EBFA6C38-910D-40D5-AD4A-F9FD5E0D5597}"/>
              </a:ext>
            </a:extLst>
          </p:cNvPr>
          <p:cNvSpPr>
            <a:spLocks noGrp="1"/>
          </p:cNvSpPr>
          <p:nvPr/>
        </p:nvSpPr>
        <p:spPr>
          <a:xfrm>
            <a:off x="7239000" y="2324100"/>
            <a:ext cx="3333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725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TF链路完整且时间同步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EA584E42-6560-482D-80DC-462D8B155712}"/>
              </a:ext>
            </a:extLst>
          </p:cNvPr>
          <p:cNvSpPr>
            <a:spLocks noGrp="1"/>
          </p:cNvSpPr>
          <p:nvPr/>
        </p:nvSpPr>
        <p:spPr>
          <a:xfrm>
            <a:off x="714375" y="3905250"/>
            <a:ext cx="4762500" cy="1285875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C7D2D1"/>
            </a:solidFill>
            <a:prstDash val="solid"/>
          </a:ln>
        </p:spPr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50AA2313-B237-4224-8AB1-B7F28DE0A853}"/>
              </a:ext>
            </a:extLst>
          </p:cNvPr>
          <p:cNvSpPr>
            <a:spLocks noGrp="1"/>
          </p:cNvSpPr>
          <p:nvPr/>
        </p:nvSpPr>
        <p:spPr>
          <a:xfrm>
            <a:off x="942975" y="4133850"/>
            <a:ext cx="666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25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BDCFDC00-0AB0-45EB-8580-0875ECFFD686}"/>
              </a:ext>
            </a:extLst>
          </p:cNvPr>
          <p:cNvSpPr>
            <a:spLocks noGrp="1"/>
          </p:cNvSpPr>
          <p:nvPr/>
        </p:nvSpPr>
        <p:spPr>
          <a:xfrm>
            <a:off x="1714500" y="4133850"/>
            <a:ext cx="3333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725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地图随移动实时扩展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CACF3E6A-E041-4342-943B-D36BBE355C47}"/>
              </a:ext>
            </a:extLst>
          </p:cNvPr>
          <p:cNvSpPr>
            <a:spLocks noGrp="1"/>
          </p:cNvSpPr>
          <p:nvPr/>
        </p:nvSpPr>
        <p:spPr>
          <a:xfrm>
            <a:off x="6238875" y="3905250"/>
            <a:ext cx="4762500" cy="1285875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C7D2D1"/>
            </a:solidFill>
            <a:prstDash val="solid"/>
          </a:ln>
        </p:spPr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B9C3FA11-1503-4909-8782-A0A688E1CAAF}"/>
              </a:ext>
            </a:extLst>
          </p:cNvPr>
          <p:cNvSpPr>
            <a:spLocks noGrp="1"/>
          </p:cNvSpPr>
          <p:nvPr/>
        </p:nvSpPr>
        <p:spPr>
          <a:xfrm>
            <a:off x="6467475" y="4133850"/>
            <a:ext cx="666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250" b="1">
                <a:solidFill>
                  <a:srgbClr val="F28C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28C45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58C3A11D-6A72-4644-B766-1497FA905E3B}"/>
              </a:ext>
            </a:extLst>
          </p:cNvPr>
          <p:cNvSpPr>
            <a:spLocks noGrp="1"/>
          </p:cNvSpPr>
          <p:nvPr/>
        </p:nvSpPr>
        <p:spPr>
          <a:xfrm>
            <a:off x="7239000" y="4133850"/>
            <a:ext cx="3333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725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墙面轮廓连续、无明显重影</a:t>
            </a:r>
          </a:p>
        </p:txBody>
      </p:sp>
    </p:spTree>
    <p:extLst>
      <p:ext uri="{BB962C8B-B14F-4D97-AF65-F5344CB8AC3E}">
        <p14:creationId xmlns:p14="http://schemas.microsoft.com/office/powerpoint/2010/main" val="14905511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8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">
            <a:extLst>
              <a:ext uri="{FF2B5EF4-FFF2-40B4-BE49-F238E27FC236}">
                <a16:creationId xmlns:a16="http://schemas.microsoft.com/office/drawing/2014/main" id="{32C87940-1E1F-44C4-88B3-D61ACECC5726}"/>
              </a:ext>
            </a:extLst>
          </p:cNvPr>
          <p:cNvSpPr>
            <a:spLocks noGrp="1"/>
          </p:cNvSpPr>
          <p:nvPr/>
        </p:nvSpPr>
        <p:spPr>
          <a:xfrm>
            <a:off x="666750" y="619125"/>
            <a:ext cx="4286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575" b="1">
                <a:solidFill>
                  <a:srgbClr val="20A3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0A39A"/>
                </a:solidFill>
                <a:latin typeface="Microsoft YaHei"/>
                <a:ea typeface="Microsoft YaHei"/>
                <a:cs typeface="Microsoft YaHei"/>
              </a:rPr>
              <a:t>项目 9 复盘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01081CCA-CD0E-4A18-9213-499406C482E8}"/>
              </a:ext>
            </a:extLst>
          </p:cNvPr>
          <p:cNvSpPr>
            <a:spLocks noGrp="1"/>
          </p:cNvSpPr>
          <p:nvPr/>
        </p:nvSpPr>
        <p:spPr>
          <a:xfrm>
            <a:off x="666750" y="1809750"/>
            <a:ext cx="933450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建图质量不仅取决于算法，也取决于运动方式、时间同步、坐标系和环境特征。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A80CA7A-84C4-403D-94B6-235DB26BEED6}"/>
              </a:ext>
            </a:extLst>
          </p:cNvPr>
          <p:cNvSpPr>
            <a:spLocks noGrp="1"/>
          </p:cNvSpPr>
          <p:nvPr/>
        </p:nvSpPr>
        <p:spPr>
          <a:xfrm>
            <a:off x="666750" y="4048125"/>
            <a:ext cx="10096500" cy="19050"/>
          </a:xfrm>
          <a:prstGeom prst="rect">
            <a:avLst/>
          </a:prstGeom>
          <a:solidFill>
            <a:srgbClr val="F28C45"/>
          </a:solidFill>
          <a:ln w="0">
            <a:noFill/>
            <a:prstDash val="solid"/>
          </a:ln>
        </p:spPr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0937899A-0515-4422-9F20-408DDCD521A3}"/>
              </a:ext>
            </a:extLst>
          </p:cNvPr>
          <p:cNvSpPr>
            <a:spLocks noGrp="1"/>
          </p:cNvSpPr>
          <p:nvPr/>
        </p:nvSpPr>
        <p:spPr>
          <a:xfrm>
            <a:off x="666750" y="4476750"/>
            <a:ext cx="1809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650" b="1">
                <a:solidFill>
                  <a:srgbClr val="F28C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28C45"/>
                </a:solidFill>
                <a:latin typeface="Microsoft YaHei"/>
                <a:ea typeface="Microsoft YaHei"/>
                <a:cs typeface="Microsoft YaHei"/>
              </a:rPr>
              <a:t>离堂问题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06395564-A027-4A23-BB28-496CA1608332}"/>
              </a:ext>
            </a:extLst>
          </p:cNvPr>
          <p:cNvSpPr>
            <a:spLocks noGrp="1"/>
          </p:cNvSpPr>
          <p:nvPr/>
        </p:nvSpPr>
        <p:spPr>
          <a:xfrm>
            <a:off x="666750" y="5000625"/>
            <a:ext cx="92392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025" b="0">
                <a:solidFill>
                  <a:srgbClr val="D9E4E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D9E4E3"/>
                </a:solidFill>
                <a:latin typeface="Microsoft YaHei"/>
                <a:ea typeface="Microsoft YaHei"/>
                <a:cs typeface="Microsoft YaHei"/>
              </a:rPr>
              <a:t>本项目中，哪一个参数或接口最影响系统可靠性？你用什么证据验证？</a:t>
            </a:r>
          </a:p>
        </p:txBody>
      </p:sp>
    </p:spTree>
    <p:extLst>
      <p:ext uri="{BB962C8B-B14F-4D97-AF65-F5344CB8AC3E}">
        <p14:creationId xmlns:p14="http://schemas.microsoft.com/office/powerpoint/2010/main" val="25298764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616</Words>
  <Application>Microsoft Office PowerPoint</Application>
  <DocSecurity>0</DocSecurity>
  <PresentationFormat>宽屏</PresentationFormat>
  <Paragraphs>174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5" baseType="lpstr">
      <vt:lpstr>Microsoft YaHei</vt:lpstr>
      <vt:lpstr>Calibri</vt:lpstr>
      <vt:lpstr>Consolas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summer</cp:lastModifiedBy>
  <cp:revision>1</cp:revision>
  <dcterms:created xsi:type="dcterms:W3CDTF">2026-08-12T10:27:05Z</dcterms:created>
  <dcterms:modified xsi:type="dcterms:W3CDTF">2026-08-25T09:17:47Z</dcterms:modified>
</cp:coreProperties>
</file>