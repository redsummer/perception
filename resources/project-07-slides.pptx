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开场先呈现项目问题，请学生说出完成任务所需的软硬件与数据链路。不要立即给出完整答案。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用三项学习结果说明本节课的验收边界。强调结果必须可演示、可截图、可复现。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让学生先口头描述数据从哪里产生、经过什么处理、最终驱动什么结果。调试时按箭头方向逐级排查。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按四个概念建立理论框架。每讲完一点，都要求学生指出它在系统链路中的位置。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板书关键公式或参数口径。让学生先预测参数变化带来的现象，再在实验中验证。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结合实验指导书截图讲清接口或配置。硬件项目需展示嘉立创EDA原理图，并让小组互查网络名与供电。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现场操作按五步推进。每一步结束后短暂停顿，检查全班完成率，再进入下一步。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不要逐行念代码。沿输入、处理、输出、异常四条线讲解，并让学生指出最需要调试的参数。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先请学生描述现象，再提出一条可验证假设。强调每次只改一个变量，改动前后都保留证据。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组织两分钟小组验收：一人操作，一人解释数据链路，一人出示证据，一人记录改进项。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收束本项目。让每位学生用一句话提交“最关键参数或接口 + 验证证据”，作为形成性评价。</a:t>
            </a:r>
          </a:p>
          <a:p>
            <a:endParaRPr/>
          </a:p>
          <a:p>
            <a:r>
              <a:t>[Sources]</a:t>
            </a:r>
          </a:p>
          <a:p>
            <a:r>
              <a:t>- 本课程《实验7》实验指导书（工作区附件）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>
            <a:extLst>
              <a:ext uri="{FF2B5EF4-FFF2-40B4-BE49-F238E27FC236}">
                <a16:creationId xmlns:a16="http://schemas.microsoft.com/office/drawing/2014/main" id="{2E041B0C-E689-4245-A0AF-B1EBC56344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781" y="123092"/>
            <a:ext cx="25717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6790CDF-A8F2-4C53-8F40-FCDC7ABA6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6C77956-A2EA-4782-94DD-0862BFB3BE26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《无人驾驶环境感知技术》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3F52A56-AFC7-4211-816B-D56F8382BF50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228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项目 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C7387B7-0FD3-4EF5-A450-82E3FAB10DF3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8048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里程计发布与智能小车速度控制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56C9C4E-E8FF-46C6-A008-1273E6778E15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7524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速度指令、轮速估计和TF坐标变换如何共同驱动一辆虚拟小车？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5CF86D-838A-4125-9457-34EFADB682E8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0024E4A-D66C-4635-9689-AEE69DD86D68}"/>
              </a:ext>
            </a:extLst>
          </p:cNvPr>
          <p:cNvSpPr>
            <a:spLocks noGrp="1"/>
          </p:cNvSpPr>
          <p:nvPr/>
        </p:nvSpPr>
        <p:spPr>
          <a:xfrm>
            <a:off x="9429750" y="20383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114F46-F3D5-4FE6-878F-AEE7F1C72478}"/>
              </a:ext>
            </a:extLst>
          </p:cNvPr>
          <p:cNvSpPr>
            <a:spLocks noGrp="1"/>
          </p:cNvSpPr>
          <p:nvPr/>
        </p:nvSpPr>
        <p:spPr>
          <a:xfrm>
            <a:off x="10086975" y="262890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48DBBA8-2210-4D94-B92F-546EDBACBF51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7C33F37-914D-4E24-A1E0-F28B166D6831}"/>
              </a:ext>
            </a:extLst>
          </p:cNvPr>
          <p:cNvSpPr>
            <a:spLocks noGrp="1"/>
          </p:cNvSpPr>
          <p:nvPr/>
        </p:nvSpPr>
        <p:spPr>
          <a:xfrm>
            <a:off x="9429750" y="327660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C7F1E-24D3-49E5-ACA8-2C2953D9C0EF}"/>
              </a:ext>
            </a:extLst>
          </p:cNvPr>
          <p:cNvSpPr>
            <a:spLocks noGrp="1"/>
          </p:cNvSpPr>
          <p:nvPr/>
        </p:nvSpPr>
        <p:spPr>
          <a:xfrm>
            <a:off x="10086975" y="3867150"/>
            <a:ext cx="66675" cy="4953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7D120C-0937-412C-9BCA-467C892637D4}"/>
              </a:ext>
            </a:extLst>
          </p:cNvPr>
          <p:cNvSpPr>
            <a:spLocks noGrp="1"/>
          </p:cNvSpPr>
          <p:nvPr/>
        </p:nvSpPr>
        <p:spPr>
          <a:xfrm>
            <a:off x="9429750" y="4381500"/>
            <a:ext cx="1381125" cy="704850"/>
          </a:xfrm>
          <a:prstGeom prst="roundRect">
            <a:avLst>
              <a:gd name="adj" fmla="val 8108"/>
            </a:avLst>
          </a:prstGeom>
          <a:solidFill>
            <a:srgbClr val="20A39A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3D609F0-C8DA-46BC-8CA2-F3936E970DF3}"/>
              </a:ext>
            </a:extLst>
          </p:cNvPr>
          <p:cNvSpPr>
            <a:spLocks noGrp="1"/>
          </p:cNvSpPr>
          <p:nvPr/>
        </p:nvSpPr>
        <p:spPr>
          <a:xfrm>
            <a:off x="9429750" y="4514850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3E7B757-A5C2-4739-AC66-C56F9418459B}"/>
              </a:ext>
            </a:extLst>
          </p:cNvPr>
          <p:cNvSpPr>
            <a:spLocks noGrp="1"/>
          </p:cNvSpPr>
          <p:nvPr/>
        </p:nvSpPr>
        <p:spPr>
          <a:xfrm>
            <a:off x="657225" y="6048375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93750"/>
          </a:bodyPr>
          <a:lstStyle/>
          <a:p>
            <a:pPr algn="l">
              <a:def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6C4"/>
                </a:solidFill>
                <a:latin typeface="Microsoft YaHei"/>
                <a:ea typeface="Microsoft YaHei"/>
                <a:cs typeface="Microsoft YaHei"/>
              </a:rPr>
              <a:t>项目导向课堂课件</a:t>
            </a:r>
          </a:p>
        </p:txBody>
      </p:sp>
    </p:spTree>
    <p:extLst>
      <p:ext uri="{BB962C8B-B14F-4D97-AF65-F5344CB8AC3E}">
        <p14:creationId xmlns:p14="http://schemas.microsoft.com/office/powerpoint/2010/main" val="185453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">
            <a:extLst>
              <a:ext uri="{FF2B5EF4-FFF2-40B4-BE49-F238E27FC236}">
                <a16:creationId xmlns:a16="http://schemas.microsoft.com/office/drawing/2014/main" id="{43CA7CCB-53BF-44A4-87F3-68D54D4F94ED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A6FDF30-EEDB-4908-BADF-C8F5A8C951B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本项目要交付一个可验证的系统结果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BE4D5C-12EB-431C-AA28-A413097F362B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速度指令、轮速估计和TF坐标变换如何共同驱动一辆虚拟小车？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9A4F41-923C-45FE-A466-E2D1DE4C6361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15635E0-2AD9-4747-B0BB-842899CBFA4A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2D6ABEB-0C5E-4AD2-A0EC-3E9C68F6922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C6D6890-EC55-41C4-AEFB-F3E6ED0661DC}"/>
              </a:ext>
            </a:extLst>
          </p:cNvPr>
          <p:cNvSpPr>
            <a:spLocks noGrp="1"/>
          </p:cNvSpPr>
          <p:nvPr/>
        </p:nvSpPr>
        <p:spPr>
          <a:xfrm>
            <a:off x="1714500" y="21240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理解差速运动学与里程计积分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A1747-8E79-4A3B-8C1F-A6F7B7352385}"/>
              </a:ext>
            </a:extLst>
          </p:cNvPr>
          <p:cNvSpPr>
            <a:spLocks noGrp="1"/>
          </p:cNvSpPr>
          <p:nvPr/>
        </p:nvSpPr>
        <p:spPr>
          <a:xfrm>
            <a:off x="1714500" y="28384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BF43A13-450A-4256-B514-0F42F012C648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1B78F56-F06E-4D88-AA80-9CF5822C34B9}"/>
              </a:ext>
            </a:extLst>
          </p:cNvPr>
          <p:cNvSpPr>
            <a:spLocks noGrp="1"/>
          </p:cNvSpPr>
          <p:nvPr/>
        </p:nvSpPr>
        <p:spPr>
          <a:xfrm>
            <a:off x="1714500" y="33432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配置Arbotix差速控制器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7EDB31-7DD4-4C45-85A6-E88321F6A753}"/>
              </a:ext>
            </a:extLst>
          </p:cNvPr>
          <p:cNvSpPr>
            <a:spLocks noGrp="1"/>
          </p:cNvSpPr>
          <p:nvPr/>
        </p:nvSpPr>
        <p:spPr>
          <a:xfrm>
            <a:off x="1714500" y="40576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96F11AA-3081-433B-9625-ADB9EF0CACA8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E3A853D8-4EA0-4EB6-A465-A7305410810A}"/>
              </a:ext>
            </a:extLst>
          </p:cNvPr>
          <p:cNvSpPr>
            <a:spLocks noGrp="1"/>
          </p:cNvSpPr>
          <p:nvPr/>
        </p:nvSpPr>
        <p:spPr>
          <a:xfrm>
            <a:off x="1714500" y="4562475"/>
            <a:ext cx="8667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用rqt_graph和TF树验证数据链路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7AD37B-8334-4DDF-91A2-308460B0C36B}"/>
              </a:ext>
            </a:extLst>
          </p:cNvPr>
          <p:cNvSpPr>
            <a:spLocks noGrp="1"/>
          </p:cNvSpPr>
          <p:nvPr/>
        </p:nvSpPr>
        <p:spPr>
          <a:xfrm>
            <a:off x="1714500" y="5276850"/>
            <a:ext cx="8667750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B89C8B3-025A-4715-83DA-C47D032F74F4}"/>
              </a:ext>
            </a:extLst>
          </p:cNvPr>
          <p:cNvSpPr>
            <a:spLocks noGrp="1"/>
          </p:cNvSpPr>
          <p:nvPr/>
        </p:nvSpPr>
        <p:spPr>
          <a:xfrm>
            <a:off x="9763125" y="21526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00FF67A-9649-47FE-A0C6-9DBBF45C6EB5}"/>
              </a:ext>
            </a:extLst>
          </p:cNvPr>
          <p:cNvSpPr>
            <a:spLocks noGrp="1"/>
          </p:cNvSpPr>
          <p:nvPr/>
        </p:nvSpPr>
        <p:spPr>
          <a:xfrm>
            <a:off x="9763125" y="2628900"/>
            <a:ext cx="1238250" cy="21145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原理解释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操作记录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问题复盘</a:t>
            </a:r>
          </a:p>
        </p:txBody>
      </p:sp>
    </p:spTree>
    <p:extLst>
      <p:ext uri="{BB962C8B-B14F-4D97-AF65-F5344CB8AC3E}">
        <p14:creationId xmlns:p14="http://schemas.microsoft.com/office/powerpoint/2010/main" val="181637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FDB73061-9C23-417F-BD4D-E676F6E5EA60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DC8BFB-780F-4778-8CEA-3E14F0549C40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先看系统全链路，再进入局部操作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7F5EABC-41EA-49EA-BF44-05553B8B57DF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每个方框都对应一个可单独验证的子任务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36E7CB-F610-4829-8B0C-9120FAFAE75C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6EDC6E3-BD19-4EC4-A38E-85C575156DC8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4C6FD67-04FD-4F5D-A4A2-C3A5F651E3ED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9E5E46-4515-4BE2-8F18-5A2D74E3F8AA}"/>
              </a:ext>
            </a:extLst>
          </p:cNvPr>
          <p:cNvSpPr>
            <a:spLocks noGrp="1"/>
          </p:cNvSpPr>
          <p:nvPr/>
        </p:nvSpPr>
        <p:spPr>
          <a:xfrm>
            <a:off x="3509963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A17702-B476-4B5B-ADC4-9FA202EF4A81}"/>
              </a:ext>
            </a:extLst>
          </p:cNvPr>
          <p:cNvSpPr>
            <a:spLocks noGrp="1"/>
          </p:cNvSpPr>
          <p:nvPr/>
        </p:nvSpPr>
        <p:spPr>
          <a:xfrm>
            <a:off x="6257925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007F76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493C012-F99F-4C83-ABD1-E022A2C2D412}"/>
              </a:ext>
            </a:extLst>
          </p:cNvPr>
          <p:cNvSpPr>
            <a:spLocks noGrp="1"/>
          </p:cNvSpPr>
          <p:nvPr/>
        </p:nvSpPr>
        <p:spPr>
          <a:xfrm>
            <a:off x="9005888" y="2714625"/>
            <a:ext cx="2424113" cy="1104900"/>
          </a:xfrm>
          <a:prstGeom prst="roundRect">
            <a:avLst>
              <a:gd name="adj" fmla="val 5172"/>
            </a:avLst>
          </a:prstGeom>
          <a:solidFill>
            <a:srgbClr val="D9EEEA"/>
          </a:solidFill>
          <a:ln w="9525">
            <a:solidFill>
              <a:srgbClr val="007F76"/>
            </a:solidFill>
            <a:prstDash val="solid"/>
          </a:ln>
        </p:spPr>
      </p: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3186113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8" name="直接箭头连接符 27"/>
          <p:cNvCxnSpPr>
            <a:stCxn id="7" idx="3"/>
            <a:endCxn id="8" idx="1"/>
          </p:cNvCxnSpPr>
          <p:nvPr/>
        </p:nvCxnSpPr>
        <p:spPr>
          <a:xfrm>
            <a:off x="5934076" y="3267075"/>
            <a:ext cx="323849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cxnSp>
        <p:nvCxnSpPr>
          <p:cNvPr id="29" name="直接箭头连接符 28"/>
          <p:cNvCxnSpPr>
            <a:stCxn id="8" idx="3"/>
            <a:endCxn id="9" idx="1"/>
          </p:cNvCxnSpPr>
          <p:nvPr/>
        </p:nvCxnSpPr>
        <p:spPr>
          <a:xfrm>
            <a:off x="8682038" y="3267075"/>
            <a:ext cx="323850" cy="0"/>
          </a:xfrm>
          <a:prstGeom prst="straightConnector1">
            <a:avLst/>
          </a:prstGeom>
          <a:ln w="28575">
            <a:solidFill>
              <a:srgbClr val="F28C45"/>
            </a:solidFill>
            <a:prstDash val="solid"/>
            <a:headEnd type="arrow" w="med" len="med"/>
          </a:ln>
        </p:spPr>
      </p:cxnSp>
      <p:sp>
        <p:nvSpPr>
          <p:cNvPr id="13" name="text">
            <a:extLst>
              <a:ext uri="{FF2B5EF4-FFF2-40B4-BE49-F238E27FC236}">
                <a16:creationId xmlns:a16="http://schemas.microsoft.com/office/drawing/2014/main" id="{E7BF8AB1-7E03-41F5-A98A-FD6404E97F45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/cmd_vel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5A9BCAD3-9FA8-433B-90BC-547C6ED148C7}"/>
              </a:ext>
            </a:extLst>
          </p:cNvPr>
          <p:cNvSpPr>
            <a:spLocks noGrp="1"/>
          </p:cNvSpPr>
          <p:nvPr/>
        </p:nvSpPr>
        <p:spPr>
          <a:xfrm>
            <a:off x="3605213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差速控制器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62B66A1E-E19B-4E4F-9554-C7D18C73D13D}"/>
              </a:ext>
            </a:extLst>
          </p:cNvPr>
          <p:cNvSpPr>
            <a:spLocks noGrp="1"/>
          </p:cNvSpPr>
          <p:nvPr/>
        </p:nvSpPr>
        <p:spPr>
          <a:xfrm>
            <a:off x="6353175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里程计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5DC9A96-F796-4AF3-AD61-9CA97A225D7C}"/>
              </a:ext>
            </a:extLst>
          </p:cNvPr>
          <p:cNvSpPr>
            <a:spLocks noGrp="1"/>
          </p:cNvSpPr>
          <p:nvPr/>
        </p:nvSpPr>
        <p:spPr>
          <a:xfrm>
            <a:off x="9101138" y="2876550"/>
            <a:ext cx="2233613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TF与RViz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FFA25A6-2B12-42B8-B6D9-3DED541807EB}"/>
              </a:ext>
            </a:extLst>
          </p:cNvPr>
          <p:cNvSpPr>
            <a:spLocks noGrp="1"/>
          </p:cNvSpPr>
          <p:nvPr/>
        </p:nvSpPr>
        <p:spPr>
          <a:xfrm>
            <a:off x="1952625" y="4905375"/>
            <a:ext cx="828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调试原则：从链路左侧开始逐级验证输入和输出，不要跳步。</a:t>
            </a:r>
          </a:p>
        </p:txBody>
      </p:sp>
    </p:spTree>
    <p:extLst>
      <p:ext uri="{BB962C8B-B14F-4D97-AF65-F5344CB8AC3E}">
        <p14:creationId xmlns:p14="http://schemas.microsoft.com/office/powerpoint/2010/main" val="142709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4E3369-D2B3-48E1-8FED-64644B70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05" y="695666"/>
            <a:ext cx="11076190" cy="5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8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">
            <a:extLst>
              <a:ext uri="{FF2B5EF4-FFF2-40B4-BE49-F238E27FC236}">
                <a16:creationId xmlns:a16="http://schemas.microsoft.com/office/drawing/2014/main" id="{1E0589E0-1529-4025-ABD8-6D583131C77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10CEEE-AB75-426D-BFCD-BF539FAE0283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差速底盘由左右轮速度决定线速度与角速度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95AB71-D7B6-4051-B582-603B2DDC8A54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0473CFA-6549-4243-8B2E-AE5D7A87C977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7ED8810-065B-4B5E-888E-F4A61180059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B81AE99-B796-4972-BB5E-904B030F19B5}"/>
              </a:ext>
            </a:extLst>
          </p:cNvPr>
          <p:cNvSpPr>
            <a:spLocks noGrp="1"/>
          </p:cNvSpPr>
          <p:nvPr/>
        </p:nvSpPr>
        <p:spPr>
          <a:xfrm>
            <a:off x="13906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两轮同速时车辆直行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40D2A70-9794-4ECA-B306-F5B516F683FF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9ED42EF-4834-4408-978D-04C570617987}"/>
              </a:ext>
            </a:extLst>
          </p:cNvPr>
          <p:cNvSpPr>
            <a:spLocks noGrp="1"/>
          </p:cNvSpPr>
          <p:nvPr/>
        </p:nvSpPr>
        <p:spPr>
          <a:xfrm>
            <a:off x="6915150" y="2124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两轮差速时车辆转弯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2E1E4F0-7F89-4D2A-856B-353A7500C301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007F76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E167E70-345A-46B4-87F3-13FAB04753E7}"/>
              </a:ext>
            </a:extLst>
          </p:cNvPr>
          <p:cNvSpPr>
            <a:spLocks noGrp="1"/>
          </p:cNvSpPr>
          <p:nvPr/>
        </p:nvSpPr>
        <p:spPr>
          <a:xfrm>
            <a:off x="13906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轮速积分得到相对位姿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52A88F8-0F37-423C-AF68-F7A1EB58CABE}"/>
              </a:ext>
            </a:extLst>
          </p:cNvPr>
          <p:cNvSpPr>
            <a:spLocks noGrp="1"/>
          </p:cNvSpPr>
          <p:nvPr/>
        </p:nvSpPr>
        <p:spPr>
          <a:xfrm>
            <a:off x="6191250" y="4048125"/>
            <a:ext cx="533400" cy="533400"/>
          </a:xfrm>
          <a:prstGeom prst="roundRect">
            <a:avLst>
              <a:gd name="adj" fmla="val 7143"/>
            </a:avLst>
          </a:prstGeom>
          <a:solidFill>
            <a:srgbClr val="F28C45"/>
          </a:solidFill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2EA83B70-CE26-44CE-844C-5492F7407D5E}"/>
              </a:ext>
            </a:extLst>
          </p:cNvPr>
          <p:cNvSpPr>
            <a:spLocks noGrp="1"/>
          </p:cNvSpPr>
          <p:nvPr/>
        </p:nvSpPr>
        <p:spPr>
          <a:xfrm>
            <a:off x="6915150" y="4029075"/>
            <a:ext cx="45243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误差随时间累计，需要传感器融合校正</a:t>
            </a:r>
          </a:p>
        </p:txBody>
      </p:sp>
    </p:spTree>
    <p:extLst>
      <p:ext uri="{BB962C8B-B14F-4D97-AF65-F5344CB8AC3E}">
        <p14:creationId xmlns:p14="http://schemas.microsoft.com/office/powerpoint/2010/main" val="11632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>
            <a:extLst>
              <a:ext uri="{FF2B5EF4-FFF2-40B4-BE49-F238E27FC236}">
                <a16:creationId xmlns:a16="http://schemas.microsoft.com/office/drawing/2014/main" id="{11AACFEC-5D8A-4DE2-9140-2FFB05C33377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5E077D7-4012-4A9F-A60C-61F6D67190F7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差速运动学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77CE72E-96FC-4440-B3EA-D237890D5A0C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把参数、公式或规则变成可测量的工程判断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FE2CB4-B27F-474B-804C-95720ED24563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C0E6367-90AD-4E1E-A0BC-78F99CC40C6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DE442DF-3FF5-4AF0-B5C9-640EB80F6CD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3190875"/>
          </a:xfrm>
          <a:prstGeom prst="roundRect">
            <a:avLst>
              <a:gd name="adj" fmla="val 1791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D839F2B-EE1C-4DC2-A015-C6B70D68F3D0}"/>
              </a:ext>
            </a:extLst>
          </p:cNvPr>
          <p:cNvSpPr>
            <a:spLocks noGrp="1"/>
          </p:cNvSpPr>
          <p:nvPr/>
        </p:nvSpPr>
        <p:spPr>
          <a:xfrm>
            <a:off x="1066800" y="2619375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 = (vr + vl) / 2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A6275A2-F25E-480F-BA34-46B44F538491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00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ctr">
              <a:def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E8E6"/>
                </a:solidFill>
                <a:latin typeface="Microsoft YaHei"/>
                <a:ea typeface="Microsoft YaHei"/>
                <a:cs typeface="Microsoft YaHei"/>
              </a:rPr>
              <a:t>ω = (vr - vl) / L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1B25DFBB-4116-4F07-879E-00D2EE40D626}"/>
              </a:ext>
            </a:extLst>
          </p:cNvPr>
          <p:cNvSpPr>
            <a:spLocks noGrp="1"/>
          </p:cNvSpPr>
          <p:nvPr/>
        </p:nvSpPr>
        <p:spPr>
          <a:xfrm>
            <a:off x="6000750" y="2381250"/>
            <a:ext cx="4953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L为左右驱动轮间距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B1B7826-E159-4BC5-A787-5C475D7513B8}"/>
              </a:ext>
            </a:extLst>
          </p:cNvPr>
          <p:cNvSpPr>
            <a:spLocks noGrp="1"/>
          </p:cNvSpPr>
          <p:nvPr/>
        </p:nvSpPr>
        <p:spPr>
          <a:xfrm>
            <a:off x="6000750" y="4191000"/>
            <a:ext cx="4953000" cy="1095375"/>
          </a:xfrm>
          <a:prstGeom prst="roundRect">
            <a:avLst>
              <a:gd name="adj" fmla="val 5217"/>
            </a:avLst>
          </a:prstGeom>
          <a:solidFill>
            <a:srgbClr val="F6F8F7"/>
          </a:solidFill>
          <a:ln w="9525">
            <a:solidFill>
              <a:srgbClr val="C7D2D1"/>
            </a:solidFill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课堂追问</a:t>
            </a:r>
          </a:p>
          <a:p>
            <a:pPr algn="l">
              <a:def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这个参数如果偏大或偏小，系统结果会怎样变化？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2103665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">
            <a:extLst>
              <a:ext uri="{FF2B5EF4-FFF2-40B4-BE49-F238E27FC236}">
                <a16:creationId xmlns:a16="http://schemas.microsoft.com/office/drawing/2014/main" id="{9AA36DE1-9815-46D9-B638-74987E96C722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ABE6F70-EE83-49D4-933B-202B0A365D9F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嘉立创EDA明确真实硬件的里程计入口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9EBC4D-9111-4016-9CFA-8B0DB84C7A8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5A84579-7D59-44DA-A777-A5B8EECC550E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7B73878-35B3-4075-950D-DD458F4597DB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1. 左右编码器接Arduino中断口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F7A6E8B-0860-4680-84E0-D29C7EE30B33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2. 驱动板接收电机控制信号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613202B-4408-4CA8-9E4C-A57997616B82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3. USB/串口上传轮速或计数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C6FD449-4306-4008-94D2-AA89A5530DEF}"/>
              </a:ext>
            </a:extLst>
          </p:cNvPr>
          <p:cNvSpPr>
            <a:spLocks noGrp="1"/>
          </p:cNvSpPr>
          <p:nvPr/>
        </p:nvSpPr>
        <p:spPr>
          <a:xfrm>
            <a:off x="666750" y="4676775"/>
            <a:ext cx="5095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4. 电源地与信号地保持共同参考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AE6AA3-A1C0-44F2-B2A7-25DEA052666E}"/>
              </a:ext>
            </a:extLst>
          </p:cNvPr>
          <p:cNvSpPr>
            <a:spLocks noGrp="1"/>
          </p:cNvSpPr>
          <p:nvPr/>
        </p:nvSpPr>
        <p:spPr>
          <a:xfrm>
            <a:off x="6134100" y="1990725"/>
            <a:ext cx="5067300" cy="344805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3166822"/>
            <a:ext cx="4953000" cy="1095855"/>
          </a:xfrm>
          <a:prstGeom prst="roundRect">
            <a:avLst>
              <a:gd name="adj" fmla="val 1143"/>
            </a:avLst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AC26613B-7F38-4179-86A8-8D2BB488A3AE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ctr">
              <a:def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嘉立创EDA任务：原理图、网络名、接口表、ERC</a:t>
            </a:r>
          </a:p>
        </p:txBody>
      </p:sp>
    </p:spTree>
    <p:extLst>
      <p:ext uri="{BB962C8B-B14F-4D97-AF65-F5344CB8AC3E}">
        <p14:creationId xmlns:p14="http://schemas.microsoft.com/office/powerpoint/2010/main" val="170547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">
            <a:extLst>
              <a:ext uri="{FF2B5EF4-FFF2-40B4-BE49-F238E27FC236}">
                <a16:creationId xmlns:a16="http://schemas.microsoft.com/office/drawing/2014/main" id="{BF805E2E-5EB9-4E75-8687-3A6273CBC42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6345E97-199F-487B-898D-3B2BD263396B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五步完成项目主流程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22FC2FD-1B07-4F95-A5B3-51FF86DDEC15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每完成一步就保留一个可追溯证据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71627D-D8C6-44CB-8DEC-4B0791C9F132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7009304-E24E-4401-9CB2-62630B63365C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BF18D91-3DF7-40D0-9A2A-2480EA892297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99053F4-500D-4926-B3D8-BF4671C3395C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08EE2CF-D40D-46DD-8061-E8C4B121B678}"/>
              </a:ext>
            </a:extLst>
          </p:cNvPr>
          <p:cNvSpPr>
            <a:spLocks noGrp="1"/>
          </p:cNvSpPr>
          <p:nvPr/>
        </p:nvSpPr>
        <p:spPr>
          <a:xfrm>
            <a:off x="1428750" y="19907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安装ros-noetic-arbotix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71F8725-8B64-4857-AAC5-E425A09ABFA5}"/>
              </a:ext>
            </a:extLst>
          </p:cNvPr>
          <p:cNvSpPr>
            <a:spLocks noGrp="1"/>
          </p:cNvSpPr>
          <p:nvPr/>
        </p:nvSpPr>
        <p:spPr>
          <a:xfrm>
            <a:off x="10001250" y="20669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截图/原理图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3E237E-B92F-4DE2-A67F-859DB74A3520}"/>
              </a:ext>
            </a:extLst>
          </p:cNvPr>
          <p:cNvSpPr>
            <a:spLocks noGrp="1"/>
          </p:cNvSpPr>
          <p:nvPr/>
        </p:nvSpPr>
        <p:spPr>
          <a:xfrm>
            <a:off x="762000" y="28384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BB7087A-D654-458E-9C82-83D080600408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CD6281C-2D4E-4FE9-9190-8195FD3056FC}"/>
              </a:ext>
            </a:extLst>
          </p:cNvPr>
          <p:cNvSpPr>
            <a:spLocks noGrp="1"/>
          </p:cNvSpPr>
          <p:nvPr/>
        </p:nvSpPr>
        <p:spPr>
          <a:xfrm>
            <a:off x="1428750" y="28098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创建fake_mrobot_arbotix.yaml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BB70134-97D9-4B29-B65D-0359376F4978}"/>
              </a:ext>
            </a:extLst>
          </p:cNvPr>
          <p:cNvSpPr>
            <a:spLocks noGrp="1"/>
          </p:cNvSpPr>
          <p:nvPr/>
        </p:nvSpPr>
        <p:spPr>
          <a:xfrm>
            <a:off x="10001250" y="28860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配置/接线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A54646-6754-4892-807D-155D9F99203A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EB4AE7F-2A32-43DD-A213-5476339E8CA4}"/>
              </a:ext>
            </a:extLst>
          </p:cNvPr>
          <p:cNvSpPr>
            <a:spLocks noGrp="1"/>
          </p:cNvSpPr>
          <p:nvPr/>
        </p:nvSpPr>
        <p:spPr>
          <a:xfrm>
            <a:off x="762000" y="36957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538DB78E-D6AE-49D7-A161-2972D8D7C46C}"/>
              </a:ext>
            </a:extLst>
          </p:cNvPr>
          <p:cNvSpPr>
            <a:spLocks noGrp="1"/>
          </p:cNvSpPr>
          <p:nvPr/>
        </p:nvSpPr>
        <p:spPr>
          <a:xfrm>
            <a:off x="1428750" y="36290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补充base_footprint固定关节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B11927F1-03C5-4831-9F84-CD858E8B50B3}"/>
              </a:ext>
            </a:extLst>
          </p:cNvPr>
          <p:cNvSpPr>
            <a:spLocks noGrp="1"/>
          </p:cNvSpPr>
          <p:nvPr/>
        </p:nvSpPr>
        <p:spPr>
          <a:xfrm>
            <a:off x="10001250" y="37052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编译/上传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F71E49A-760B-42DE-AA9F-44B841B13802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59EDF26B-CA40-41DF-BAF3-2890E2F12370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DE353672-A2DB-4592-83CC-65B64F3DD471}"/>
              </a:ext>
            </a:extLst>
          </p:cNvPr>
          <p:cNvSpPr>
            <a:spLocks noGrp="1"/>
          </p:cNvSpPr>
          <p:nvPr/>
        </p:nvSpPr>
        <p:spPr>
          <a:xfrm>
            <a:off x="1428750" y="444817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launch启动Arbotix、TF和RViz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C21A28DB-70B4-4085-852C-4B6139EF7DDE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数据/话题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B053AD6-8AD1-40C3-BDEE-1FF49ADA5AB0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428625" cy="428625"/>
          </a:xfrm>
          <a:prstGeom prst="roundRect">
            <a:avLst>
              <a:gd name="adj" fmla="val 8889"/>
            </a:avLst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77BB9930-6F71-47AF-9530-9549886F2D52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 fontScale="95238"/>
          </a:bodyPr>
          <a:lstStyle/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A4B826A6-049B-40AF-AA4F-3088577A9658}"/>
              </a:ext>
            </a:extLst>
          </p:cNvPr>
          <p:cNvSpPr>
            <a:spLocks noGrp="1"/>
          </p:cNvSpPr>
          <p:nvPr/>
        </p:nvSpPr>
        <p:spPr>
          <a:xfrm>
            <a:off x="1428750" y="5267325"/>
            <a:ext cx="8667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发布/cmd_vel并观察运动</a:t>
            </a:r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B717A58-02A4-4AB4-9932-8AB1C3083ED7}"/>
              </a:ext>
            </a:extLst>
          </p:cNvPr>
          <p:cNvSpPr>
            <a:spLocks noGrp="1"/>
          </p:cNvSpPr>
          <p:nvPr/>
        </p:nvSpPr>
        <p:spPr>
          <a:xfrm>
            <a:off x="10001250" y="5343525"/>
            <a:ext cx="1381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r">
              <a:def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运行结果</a:t>
            </a:r>
          </a:p>
        </p:txBody>
      </p:sp>
    </p:spTree>
    <p:extLst>
      <p:ext uri="{BB962C8B-B14F-4D97-AF65-F5344CB8AC3E}">
        <p14:creationId xmlns:p14="http://schemas.microsoft.com/office/powerpoint/2010/main" val="12848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">
            <a:extLst>
              <a:ext uri="{FF2B5EF4-FFF2-40B4-BE49-F238E27FC236}">
                <a16:creationId xmlns:a16="http://schemas.microsoft.com/office/drawing/2014/main" id="{9C7CFA41-83C2-4762-91B6-E50C2379337F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63AC2D4-03D3-4D8C-8DCB-FC8C1158E869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控制器关键参数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C60E90A-7C69-4469-BA6E-ADF246088447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先读输入与输出，再读关键参数和异常分支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E4C1DE-82FC-4827-88FA-FEBB76F94580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A54A6D15-8E06-4C34-B808-D1BA75BBF07B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104CA0F-AFCF-495C-82A6-D309D3734970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7429500" cy="3952875"/>
          </a:xfrm>
          <a:prstGeom prst="roundRect">
            <a:avLst>
              <a:gd name="adj" fmla="val 1446"/>
            </a:avLst>
          </a:prstGeom>
          <a:solidFill>
            <a:srgbClr val="10282B"/>
          </a:solidFill>
          <a:ln w="0">
            <a:noFill/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082E424-3B46-4500-A7AB-F5D547AC8403}"/>
              </a:ext>
            </a:extLst>
          </p:cNvPr>
          <p:cNvSpPr>
            <a:spLocks noGrp="1"/>
          </p:cNvSpPr>
          <p:nvPr/>
        </p:nvSpPr>
        <p:spPr>
          <a:xfrm>
            <a:off x="828675" y="2171700"/>
            <a:ext cx="695325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controllers: {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base_controller: {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type: diff_controller,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base_frame_id: base_footprint,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base_width: 0.26,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ticks_meter: 4100,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Kp: 12, Kd: 12, Ki: 0, Ko: 50,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  accel_limit: 1.0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425" b="0">
                <a:solidFill>
                  <a:srgbClr val="E9F4F2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9F4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1DCC4DB-B0BB-462D-B7C4-282C2EB7230E}"/>
              </a:ext>
            </a:extLst>
          </p:cNvPr>
          <p:cNvSpPr>
            <a:spLocks noGrp="1"/>
          </p:cNvSpPr>
          <p:nvPr/>
        </p:nvSpPr>
        <p:spPr>
          <a:xfrm>
            <a:off x="8572500" y="2143125"/>
            <a:ext cx="2333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代码走读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6F2BD69-C996-40EE-BA00-729E39C82C58}"/>
              </a:ext>
            </a:extLst>
          </p:cNvPr>
          <p:cNvSpPr>
            <a:spLocks noGrp="1"/>
          </p:cNvSpPr>
          <p:nvPr/>
        </p:nvSpPr>
        <p:spPr>
          <a:xfrm>
            <a:off x="8572500" y="2714625"/>
            <a:ext cx="24765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  输入从哪里来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  数据类型是什么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3  哪些参数可调</a:t>
            </a:r>
          </a:p>
          <a:p>
            <a:endParaRPr sz="1650" b="1">
              <a:solidFill>
                <a:srgbClr val="1723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4  失败时如何处理</a:t>
            </a:r>
          </a:p>
        </p:txBody>
      </p:sp>
    </p:spTree>
    <p:extLst>
      <p:ext uri="{BB962C8B-B14F-4D97-AF65-F5344CB8AC3E}">
        <p14:creationId xmlns:p14="http://schemas.microsoft.com/office/powerpoint/2010/main" val="191737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BE0CC84D-BE51-4E96-9FB2-D8C168EF5785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68591C-2E9A-46F6-B543-8EFCDAE48D76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调试从现象出发，用证据缩小范围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59202A-E918-47EF-ACFE-B3E79B3AC919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C1B91D0-6495-4BCC-927F-B644DD5AF9BA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3CC7197-CB40-4484-9528-C9C7796EAB29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4543425" cy="325755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818995"/>
            <a:ext cx="4429125" cy="1696261"/>
          </a:xfrm>
          <a:prstGeom prst="roundRect">
            <a:avLst>
              <a:gd name="adj" fmla="val 1212"/>
            </a:avLst>
          </a:prstGeom>
        </p:spPr>
      </p:pic>
      <p:sp>
        <p:nvSpPr>
          <p:cNvPr id="7" name="text">
            <a:extLst>
              <a:ext uri="{FF2B5EF4-FFF2-40B4-BE49-F238E27FC236}">
                <a16:creationId xmlns:a16="http://schemas.microsoft.com/office/drawing/2014/main" id="{1B5654A2-4E46-4A37-BE89-580CD9988DBF}"/>
              </a:ext>
            </a:extLst>
          </p:cNvPr>
          <p:cNvSpPr>
            <a:spLocks noGrp="1"/>
          </p:cNvSpPr>
          <p:nvPr/>
        </p:nvSpPr>
        <p:spPr>
          <a:xfrm>
            <a:off x="5667375" y="20288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小车不移动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5C122CD-3141-44A1-9F61-C9AE6B3B17A8}"/>
              </a:ext>
            </a:extLst>
          </p:cNvPr>
          <p:cNvSpPr>
            <a:spLocks noGrp="1"/>
          </p:cNvSpPr>
          <p:nvPr/>
        </p:nvSpPr>
        <p:spPr>
          <a:xfrm>
            <a:off x="7667625" y="20288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确认/cmd_vel被控制器订阅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F7DF35-CEF5-470D-8607-42AE3CB6C9D7}"/>
              </a:ext>
            </a:extLst>
          </p:cNvPr>
          <p:cNvSpPr>
            <a:spLocks noGrp="1"/>
          </p:cNvSpPr>
          <p:nvPr/>
        </p:nvSpPr>
        <p:spPr>
          <a:xfrm>
            <a:off x="5667375" y="26574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BFB42F5-61EB-4FA5-9DA7-FA17586BDDB0}"/>
              </a:ext>
            </a:extLst>
          </p:cNvPr>
          <p:cNvSpPr>
            <a:spLocks noGrp="1"/>
          </p:cNvSpPr>
          <p:nvPr/>
        </p:nvSpPr>
        <p:spPr>
          <a:xfrm>
            <a:off x="5667375" y="29432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方向相反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0A21142-2568-47EF-B539-86CD9CFF5827}"/>
              </a:ext>
            </a:extLst>
          </p:cNvPr>
          <p:cNvSpPr>
            <a:spLocks noGrp="1"/>
          </p:cNvSpPr>
          <p:nvPr/>
        </p:nvSpPr>
        <p:spPr>
          <a:xfrm>
            <a:off x="7667625" y="29432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核对车轮定义与速度符号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937D83-A85E-4730-AFAB-739B4276E859}"/>
              </a:ext>
            </a:extLst>
          </p:cNvPr>
          <p:cNvSpPr>
            <a:spLocks noGrp="1"/>
          </p:cNvSpPr>
          <p:nvPr/>
        </p:nvSpPr>
        <p:spPr>
          <a:xfrm>
            <a:off x="5667375" y="35718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689817B-9F55-47CD-A440-15BEFFDD031D}"/>
              </a:ext>
            </a:extLst>
          </p:cNvPr>
          <p:cNvSpPr>
            <a:spLocks noGrp="1"/>
          </p:cNvSpPr>
          <p:nvPr/>
        </p:nvSpPr>
        <p:spPr>
          <a:xfrm>
            <a:off x="5667375" y="38576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TF断链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7DC2B07-29AD-4357-8600-65B43B7D4599}"/>
              </a:ext>
            </a:extLst>
          </p:cNvPr>
          <p:cNvSpPr>
            <a:spLocks noGrp="1"/>
          </p:cNvSpPr>
          <p:nvPr/>
        </p:nvSpPr>
        <p:spPr>
          <a:xfrm>
            <a:off x="7667625" y="38576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补齐base_footprint到base_link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F3DAB2-D466-4933-9D3E-91CDF7972285}"/>
              </a:ext>
            </a:extLst>
          </p:cNvPr>
          <p:cNvSpPr>
            <a:spLocks noGrp="1"/>
          </p:cNvSpPr>
          <p:nvPr/>
        </p:nvSpPr>
        <p:spPr>
          <a:xfrm>
            <a:off x="5667375" y="44862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3929492-A6B4-4B5C-B108-9A5E6B26C4D1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里程偏差大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1011198-F35D-43AB-8B15-AB7715C65537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标定base_width与ticks_meter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194C06-7553-41D3-91F0-429B2F9A760C}"/>
              </a:ext>
            </a:extLst>
          </p:cNvPr>
          <p:cNvSpPr>
            <a:spLocks noGrp="1"/>
          </p:cNvSpPr>
          <p:nvPr/>
        </p:nvSpPr>
        <p:spPr>
          <a:xfrm>
            <a:off x="5667375" y="5400675"/>
            <a:ext cx="5476875" cy="9525"/>
          </a:xfrm>
          <a:prstGeom prst="rect">
            <a:avLst/>
          </a:prstGeom>
          <a:solidFill>
            <a:srgbClr val="C7D2D1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4133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D80A9A26-DB6A-46B1-A15B-25BDA9B3977E}"/>
              </a:ext>
            </a:extLst>
          </p:cNvPr>
          <p:cNvSpPr>
            <a:spLocks noGrp="1"/>
          </p:cNvSpPr>
          <p:nvPr/>
        </p:nvSpPr>
        <p:spPr>
          <a:xfrm>
            <a:off x="571500" y="2476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项目 7  /  里程计控制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E448EA8-6856-4DFA-B80D-7677DC3740AC}"/>
              </a:ext>
            </a:extLst>
          </p:cNvPr>
          <p:cNvSpPr>
            <a:spLocks noGrp="1"/>
          </p:cNvSpPr>
          <p:nvPr/>
        </p:nvSpPr>
        <p:spPr>
          <a:xfrm>
            <a:off x="571500" y="6286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验收看证据，不只看“能运行”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BF6045D-976D-4FAF-AB57-9A0056B8A619}"/>
              </a:ext>
            </a:extLst>
          </p:cNvPr>
          <p:cNvSpPr>
            <a:spLocks noGrp="1"/>
          </p:cNvSpPr>
          <p:nvPr/>
        </p:nvSpPr>
        <p:spPr>
          <a:xfrm>
            <a:off x="590550" y="12477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小组展示时按四项逐一核验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BDF91E-7B51-4104-9D8C-923E7DEE46A3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11049000" cy="19050"/>
          </a:xfrm>
          <a:prstGeom prst="rect">
            <a:avLst/>
          </a:prstGeom>
          <a:solidFill>
            <a:srgbClr val="007F76"/>
          </a:solidFill>
          <a:ln w="0">
            <a:noFill/>
            <a:prstDash val="solid"/>
          </a:ln>
        </p:spPr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80EC58A-058B-41F8-AB0D-6F1FCCE205D8}"/>
              </a:ext>
            </a:extLst>
          </p:cNvPr>
          <p:cNvSpPr>
            <a:spLocks noGrp="1"/>
          </p:cNvSpPr>
          <p:nvPr/>
        </p:nvSpPr>
        <p:spPr>
          <a:xfrm>
            <a:off x="11115675" y="640080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 fontScale="89744" lnSpcReduction="10000"/>
          </a:bodyPr>
          <a:lstStyle/>
          <a:p>
            <a:pPr algn="r">
              <a:def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164859-71D9-4DBC-80AA-933D38FF9055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D74BD19-F92C-4692-820F-46DE42E1AC53}"/>
              </a:ext>
            </a:extLst>
          </p:cNvPr>
          <p:cNvSpPr>
            <a:spLocks noGrp="1"/>
          </p:cNvSpPr>
          <p:nvPr/>
        </p:nvSpPr>
        <p:spPr>
          <a:xfrm>
            <a:off x="9429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B056BD6-C855-4B10-B22F-2C9047F24CC5}"/>
              </a:ext>
            </a:extLst>
          </p:cNvPr>
          <p:cNvSpPr>
            <a:spLocks noGrp="1"/>
          </p:cNvSpPr>
          <p:nvPr/>
        </p:nvSpPr>
        <p:spPr>
          <a:xfrm>
            <a:off x="17145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/cmd_vel可驱动车模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87DD6A2-C122-47BC-A691-2364560DECE5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059E40C-81EE-4E69-A822-5607C61A7C3A}"/>
              </a:ext>
            </a:extLst>
          </p:cNvPr>
          <p:cNvSpPr>
            <a:spLocks noGrp="1"/>
          </p:cNvSpPr>
          <p:nvPr/>
        </p:nvSpPr>
        <p:spPr>
          <a:xfrm>
            <a:off x="6467475" y="23241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676464AF-A904-4421-A53B-27DB4B0EFDF8}"/>
              </a:ext>
            </a:extLst>
          </p:cNvPr>
          <p:cNvSpPr>
            <a:spLocks noGrp="1"/>
          </p:cNvSpPr>
          <p:nvPr/>
        </p:nvSpPr>
        <p:spPr>
          <a:xfrm>
            <a:off x="7239000" y="232410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rqt_graph链路完整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C476908-439A-423C-865C-A490F0899665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C7CFC3E-DE60-4A3A-9C68-BF5B3004E98F}"/>
              </a:ext>
            </a:extLst>
          </p:cNvPr>
          <p:cNvSpPr>
            <a:spLocks noGrp="1"/>
          </p:cNvSpPr>
          <p:nvPr/>
        </p:nvSpPr>
        <p:spPr>
          <a:xfrm>
            <a:off x="9429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7F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AA2FF77D-13B8-46D5-8BA2-DA4390CF54BC}"/>
              </a:ext>
            </a:extLst>
          </p:cNvPr>
          <p:cNvSpPr>
            <a:spLocks noGrp="1"/>
          </p:cNvSpPr>
          <p:nvPr/>
        </p:nvSpPr>
        <p:spPr>
          <a:xfrm>
            <a:off x="17145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TF树无断裂或重复父节点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4525104-6FDD-4F10-AA1C-AC1DDCAA45E8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4762500" cy="128587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7D2D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FD4BB67-AF76-44EA-814F-B7D14A188DAE}"/>
              </a:ext>
            </a:extLst>
          </p:cNvPr>
          <p:cNvSpPr>
            <a:spLocks noGrp="1"/>
          </p:cNvSpPr>
          <p:nvPr/>
        </p:nvSpPr>
        <p:spPr>
          <a:xfrm>
            <a:off x="6467475" y="41338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9A0E2874-5B8B-4670-A1B5-1691F44CD92A}"/>
              </a:ext>
            </a:extLst>
          </p:cNvPr>
          <p:cNvSpPr>
            <a:spLocks noGrp="1"/>
          </p:cNvSpPr>
          <p:nvPr/>
        </p:nvSpPr>
        <p:spPr>
          <a:xfrm>
            <a:off x="7239000" y="4133850"/>
            <a:ext cx="333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直行与转弯方向正确</a:t>
            </a:r>
          </a:p>
        </p:txBody>
      </p:sp>
    </p:spTree>
    <p:extLst>
      <p:ext uri="{BB962C8B-B14F-4D97-AF65-F5344CB8AC3E}">
        <p14:creationId xmlns:p14="http://schemas.microsoft.com/office/powerpoint/2010/main" val="124512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68A06086-837D-437C-9570-EF452DAF92E4}"/>
              </a:ext>
            </a:extLst>
          </p:cNvPr>
          <p:cNvSpPr>
            <a:spLocks noGrp="1"/>
          </p:cNvSpPr>
          <p:nvPr/>
        </p:nvSpPr>
        <p:spPr>
          <a:xfrm>
            <a:off x="666750" y="619125"/>
            <a:ext cx="4286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A39A"/>
                </a:solidFill>
                <a:latin typeface="Microsoft YaHei"/>
                <a:ea typeface="Microsoft YaHei"/>
                <a:cs typeface="Microsoft YaHei"/>
              </a:rPr>
              <a:t>项目 7 复盘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246BA6A-A596-4F13-A091-E54534D3662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9334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ctr">
            <a:normAutofit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里程计是模型、参数与测量共同作用的结果，参数标定决定它是否可信。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EBC7C2-A3B6-495E-A687-B8E827048F2C}"/>
              </a:ext>
            </a:extLst>
          </p:cNvPr>
          <p:cNvSpPr>
            <a:spLocks noGrp="1"/>
          </p:cNvSpPr>
          <p:nvPr/>
        </p:nvSpPr>
        <p:spPr>
          <a:xfrm>
            <a:off x="666750" y="4048125"/>
            <a:ext cx="10096500" cy="19050"/>
          </a:xfrm>
          <a:prstGeom prst="rect">
            <a:avLst/>
          </a:prstGeom>
          <a:solidFill>
            <a:srgbClr val="F28C45"/>
          </a:solidFill>
          <a:ln w="0">
            <a:noFill/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81BA92C1-9ACB-48F5-8B2C-D708B3989D27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45"/>
                </a:solidFill>
                <a:latin typeface="Microsoft YaHei"/>
                <a:ea typeface="Microsoft YaHei"/>
                <a:cs typeface="Microsoft YaHei"/>
              </a:rPr>
              <a:t>离堂问题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86DFE73-D3CD-452E-A3A8-BCECDD02B173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47625" tIns="38100" rIns="47625" bIns="38100" anchor="t">
            <a:normAutofit/>
          </a:bodyPr>
          <a:lstStyle/>
          <a:p>
            <a:pPr algn="l">
              <a:def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9E4E3"/>
                </a:solidFill>
                <a:latin typeface="Microsoft YaHei"/>
                <a:ea typeface="Microsoft YaHei"/>
                <a:cs typeface="Microsoft YaHei"/>
              </a:rPr>
              <a:t>本项目中，哪一个参数或接口最影响系统可靠性？你用什么证据验证？</a:t>
            </a:r>
          </a:p>
        </p:txBody>
      </p:sp>
    </p:spTree>
    <p:extLst>
      <p:ext uri="{BB962C8B-B14F-4D97-AF65-F5344CB8AC3E}">
        <p14:creationId xmlns:p14="http://schemas.microsoft.com/office/powerpoint/2010/main" val="19700862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2848</TotalTime>
  <Words>611</Words>
  <Application>Microsoft Office PowerPoint</Application>
  <DocSecurity>0</DocSecurity>
  <PresentationFormat>宽屏</PresentationFormat>
  <Paragraphs>176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summer</cp:lastModifiedBy>
  <cp:revision>3</cp:revision>
  <dcterms:created xsi:type="dcterms:W3CDTF">2026-08-12T10:27:05Z</dcterms:created>
  <dcterms:modified xsi:type="dcterms:W3CDTF">2026-08-28T08:29:18Z</dcterms:modified>
</cp:coreProperties>
</file>