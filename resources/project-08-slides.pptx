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开场先呈现项目问题，请学生说出完成任务所需的软硬件与数据链路。不要立即给出完整答案。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本课程《实验8》实验指导书（工作区附件）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用三项学习结果说明本节课的验收边界。强调结果必须可演示、可截图、可复现。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本课程《实验8》实验指导书（工作区附件）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让学生先口头描述数据从哪里产生、经过什么处理、最终驱动什么结果。调试时按箭头方向逐级排查。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本课程《实验8》实验指导书（工作区附件）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按四个概念建立理论框架。每讲完一点，都要求学生指出它在系统链路中的位置。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本课程《实验8》实验指导书（工作区附件）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板书关键公式或参数口径。让学生先预测参数变化带来的现象，再在实验中验证。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本课程《实验8》实验指导书（工作区附件）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结合实验指导书截图讲清接口或配置。硬件项目需展示嘉立创EDA原理图，并让小组互查网络名与供电。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本课程《实验8》实验指导书（工作区附件）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现场操作按五步推进。每一步结束后短暂停顿，检查全班完成率，再进入下一步。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本课程《实验8》实验指导书（工作区附件）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不要逐行念代码。沿输入、处理、输出、异常四条线讲解，并让学生指出最需要调试的参数。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本课程《实验8》实验指导书（工作区附件）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先请学生描述现象，再提出一条可验证假设。强调每次只改一个变量，改动前后都保留证据。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本课程《实验8》实验指导书（工作区附件）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组织两分钟小组验收：一人操作，一人解释数据链路，一人出示证据，一人记录改进项。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本课程《实验8》实验指导书（工作区附件）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收束本项目。让每位学生用一句话提交“最关键参数或接口 + 验证证据”，作为形成性评价。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本课程《实验8》实验指导书（工作区附件）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7">
            <a:extLst>
              <a:ext uri="{FF2B5EF4-FFF2-40B4-BE49-F238E27FC236}">
                <a16:creationId xmlns:a16="http://schemas.microsoft.com/office/drawing/2014/main" id="{07263BA0-89BB-4CE6-A018-FBE25DCA844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0781" y="123092"/>
            <a:ext cx="257175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DB0C775C-0BB8-4A4C-83CE-61B16C4BCFE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28C45"/>
          </a:solidFill>
          <a:ln w="0">
            <a:noFill/>
            <a:prstDash val="solid"/>
          </a:ln>
        </p:spPr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F91FC599-AD90-48DD-9AB4-AFA1AAC70E25}"/>
              </a:ext>
            </a:extLst>
          </p:cNvPr>
          <p:cNvSpPr>
            <a:spLocks noGrp="1"/>
          </p:cNvSpPr>
          <p:nvPr/>
        </p:nvSpPr>
        <p:spPr>
          <a:xfrm>
            <a:off x="647700" y="552450"/>
            <a:ext cx="4953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500" b="1">
                <a:solidFill>
                  <a:srgbClr val="20A3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0A39A"/>
                </a:solidFill>
                <a:latin typeface="Microsoft YaHei"/>
                <a:ea typeface="Microsoft YaHei"/>
                <a:cs typeface="Microsoft YaHei"/>
              </a:rPr>
              <a:t>《无人驾驶环境感知技术》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45B8EA93-F398-4B8A-AC9F-76BAB7B988B1}"/>
              </a:ext>
            </a:extLst>
          </p:cNvPr>
          <p:cNvSpPr>
            <a:spLocks noGrp="1"/>
          </p:cNvSpPr>
          <p:nvPr/>
        </p:nvSpPr>
        <p:spPr>
          <a:xfrm>
            <a:off x="647700" y="1571625"/>
            <a:ext cx="2286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95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rPr>
              <a:t>项目 8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2A6A9698-4C46-40BD-AD22-C3C7D5ED8F67}"/>
              </a:ext>
            </a:extLst>
          </p:cNvPr>
          <p:cNvSpPr>
            <a:spLocks noGrp="1"/>
          </p:cNvSpPr>
          <p:nvPr/>
        </p:nvSpPr>
        <p:spPr>
          <a:xfrm>
            <a:off x="647700" y="2171700"/>
            <a:ext cx="8048625" cy="1571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基于OpenCV的车道线检测与识别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A91BB50C-1AF0-4CE0-8AEA-DFC268D2E20B}"/>
              </a:ext>
            </a:extLst>
          </p:cNvPr>
          <p:cNvSpPr>
            <a:spLocks noGrp="1"/>
          </p:cNvSpPr>
          <p:nvPr/>
        </p:nvSpPr>
        <p:spPr>
          <a:xfrm>
            <a:off x="666750" y="4286250"/>
            <a:ext cx="75247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800" b="0">
                <a:solidFill>
                  <a:srgbClr val="D9E4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9E4E3"/>
                </a:solidFill>
                <a:latin typeface="Microsoft YaHei"/>
                <a:ea typeface="Microsoft YaHei"/>
                <a:cs typeface="Microsoft YaHei"/>
              </a:rPr>
              <a:t>如何把一帧道路图像逐步变成稳定、可解释的左右车道线？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3CA2B6D1-EA46-4929-8221-03C3FD947CDB}"/>
              </a:ext>
            </a:extLst>
          </p:cNvPr>
          <p:cNvSpPr>
            <a:spLocks noGrp="1"/>
          </p:cNvSpPr>
          <p:nvPr/>
        </p:nvSpPr>
        <p:spPr>
          <a:xfrm>
            <a:off x="9429750" y="1905000"/>
            <a:ext cx="1381125" cy="704850"/>
          </a:xfrm>
          <a:prstGeom prst="roundRect">
            <a:avLst>
              <a:gd name="adj" fmla="val 8108"/>
            </a:avLst>
          </a:prstGeom>
          <a:solidFill>
            <a:srgbClr val="20A39A"/>
          </a:solidFill>
          <a:ln w="0">
            <a:noFill/>
            <a:prstDash val="solid"/>
          </a:ln>
        </p:spPr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3BD9DEA0-1D5A-4563-BA6A-9B4CCAD1F11E}"/>
              </a:ext>
            </a:extLst>
          </p:cNvPr>
          <p:cNvSpPr>
            <a:spLocks noGrp="1"/>
          </p:cNvSpPr>
          <p:nvPr/>
        </p:nvSpPr>
        <p:spPr>
          <a:xfrm>
            <a:off x="9429750" y="2038350"/>
            <a:ext cx="1381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感知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0DF643A-ACBE-4B9D-A5EC-8F5F0850B8FC}"/>
              </a:ext>
            </a:extLst>
          </p:cNvPr>
          <p:cNvSpPr>
            <a:spLocks noGrp="1"/>
          </p:cNvSpPr>
          <p:nvPr/>
        </p:nvSpPr>
        <p:spPr>
          <a:xfrm>
            <a:off x="10086975" y="2628900"/>
            <a:ext cx="66675" cy="4953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2ADA2620-227D-4903-A735-4E8825F5D751}"/>
              </a:ext>
            </a:extLst>
          </p:cNvPr>
          <p:cNvSpPr>
            <a:spLocks noGrp="1"/>
          </p:cNvSpPr>
          <p:nvPr/>
        </p:nvSpPr>
        <p:spPr>
          <a:xfrm>
            <a:off x="9429750" y="3143250"/>
            <a:ext cx="1381125" cy="704850"/>
          </a:xfrm>
          <a:prstGeom prst="roundRect">
            <a:avLst>
              <a:gd name="adj" fmla="val 8108"/>
            </a:avLst>
          </a:prstGeom>
          <a:solidFill>
            <a:srgbClr val="F28C45"/>
          </a:solidFill>
          <a:ln w="0">
            <a:noFill/>
            <a:prstDash val="solid"/>
          </a:ln>
        </p:spPr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9BA7CE48-9B9F-4355-AB4F-F3B5BCA46833}"/>
              </a:ext>
            </a:extLst>
          </p:cNvPr>
          <p:cNvSpPr>
            <a:spLocks noGrp="1"/>
          </p:cNvSpPr>
          <p:nvPr/>
        </p:nvSpPr>
        <p:spPr>
          <a:xfrm>
            <a:off x="9429750" y="3276600"/>
            <a:ext cx="1381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48F9FCB-6CF1-4C63-A89E-D5D241BF9A9B}"/>
              </a:ext>
            </a:extLst>
          </p:cNvPr>
          <p:cNvSpPr>
            <a:spLocks noGrp="1"/>
          </p:cNvSpPr>
          <p:nvPr/>
        </p:nvSpPr>
        <p:spPr>
          <a:xfrm>
            <a:off x="10086975" y="3867150"/>
            <a:ext cx="66675" cy="4953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68BE03B3-C378-4102-B50E-C274F23840E5}"/>
              </a:ext>
            </a:extLst>
          </p:cNvPr>
          <p:cNvSpPr>
            <a:spLocks noGrp="1"/>
          </p:cNvSpPr>
          <p:nvPr/>
        </p:nvSpPr>
        <p:spPr>
          <a:xfrm>
            <a:off x="9429750" y="4381500"/>
            <a:ext cx="1381125" cy="704850"/>
          </a:xfrm>
          <a:prstGeom prst="roundRect">
            <a:avLst>
              <a:gd name="adj" fmla="val 8108"/>
            </a:avLst>
          </a:prstGeom>
          <a:solidFill>
            <a:srgbClr val="20A39A"/>
          </a:solidFill>
          <a:ln w="0">
            <a:noFill/>
            <a:prstDash val="solid"/>
          </a:ln>
        </p:spPr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83776CF1-34DF-420B-A229-FB869C0AC9AB}"/>
              </a:ext>
            </a:extLst>
          </p:cNvPr>
          <p:cNvSpPr>
            <a:spLocks noGrp="1"/>
          </p:cNvSpPr>
          <p:nvPr/>
        </p:nvSpPr>
        <p:spPr>
          <a:xfrm>
            <a:off x="9429750" y="4514850"/>
            <a:ext cx="1381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行动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5F9C344D-EE95-4648-9A39-F71953921E7C}"/>
              </a:ext>
            </a:extLst>
          </p:cNvPr>
          <p:cNvSpPr>
            <a:spLocks noGrp="1"/>
          </p:cNvSpPr>
          <p:nvPr/>
        </p:nvSpPr>
        <p:spPr>
          <a:xfrm>
            <a:off x="657225" y="6048375"/>
            <a:ext cx="304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 fontScale="93750"/>
          </a:bodyPr>
          <a:lstStyle/>
          <a:p>
            <a:pPr algn="l">
              <a:defRPr sz="1200" b="0">
                <a:solidFill>
                  <a:srgbClr val="AFC6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FC6C4"/>
                </a:solidFill>
                <a:latin typeface="Microsoft YaHei"/>
                <a:ea typeface="Microsoft YaHei"/>
                <a:cs typeface="Microsoft YaHei"/>
              </a:rPr>
              <a:t>项目导向课堂课件</a:t>
            </a:r>
          </a:p>
        </p:txBody>
      </p:sp>
    </p:spTree>
    <p:extLst>
      <p:ext uri="{BB962C8B-B14F-4D97-AF65-F5344CB8AC3E}">
        <p14:creationId xmlns:p14="http://schemas.microsoft.com/office/powerpoint/2010/main" val="18702251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">
            <a:extLst>
              <a:ext uri="{FF2B5EF4-FFF2-40B4-BE49-F238E27FC236}">
                <a16:creationId xmlns:a16="http://schemas.microsoft.com/office/drawing/2014/main" id="{9FD2C50B-C556-4FDF-8FB6-14693EF4F19E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项目 8  /  车道线检测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8D74A9BB-D08E-4209-A150-0636A7F8076A}"/>
              </a:ext>
            </a:extLst>
          </p:cNvPr>
          <p:cNvSpPr>
            <a:spLocks noGrp="1"/>
          </p:cNvSpPr>
          <p:nvPr/>
        </p:nvSpPr>
        <p:spPr>
          <a:xfrm>
            <a:off x="571500" y="6286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本项目要交付一个可验证的系统结果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3A1D0522-1775-486E-8677-3EB949AC9E92}"/>
              </a:ext>
            </a:extLst>
          </p:cNvPr>
          <p:cNvSpPr>
            <a:spLocks noGrp="1"/>
          </p:cNvSpPr>
          <p:nvPr/>
        </p:nvSpPr>
        <p:spPr>
          <a:xfrm>
            <a:off x="590550" y="1247775"/>
            <a:ext cx="1047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如何把一帧道路图像逐步变成稳定、可解释的左右车道线？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ADF6772-B1C1-42D8-AFB1-463486CB90BC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049000" cy="19050"/>
          </a:xfrm>
          <a:prstGeom prst="rect">
            <a:avLst/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C6A0408E-0712-4933-954A-31491D0B7789}"/>
              </a:ext>
            </a:extLst>
          </p:cNvPr>
          <p:cNvSpPr>
            <a:spLocks noGrp="1"/>
          </p:cNvSpPr>
          <p:nvPr/>
        </p:nvSpPr>
        <p:spPr>
          <a:xfrm>
            <a:off x="11115675" y="64008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 fontScale="89744" lnSpcReduction="10000"/>
          </a:bodyPr>
          <a:lstStyle/>
          <a:p>
            <a:pPr algn="r">
              <a:def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53329327-7A2A-47D7-A2D4-69DA3B07B7A9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762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7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35BAE3A6-2B00-43E8-85E9-EC4E3FFB839F}"/>
              </a:ext>
            </a:extLst>
          </p:cNvPr>
          <p:cNvSpPr>
            <a:spLocks noGrp="1"/>
          </p:cNvSpPr>
          <p:nvPr/>
        </p:nvSpPr>
        <p:spPr>
          <a:xfrm>
            <a:off x="1714500" y="2124075"/>
            <a:ext cx="8667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20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理解经典车道线检测流水线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271DC3C-94D9-4A70-843E-6B47BF34F0AB}"/>
              </a:ext>
            </a:extLst>
          </p:cNvPr>
          <p:cNvSpPr>
            <a:spLocks noGrp="1"/>
          </p:cNvSpPr>
          <p:nvPr/>
        </p:nvSpPr>
        <p:spPr>
          <a:xfrm>
            <a:off x="1714500" y="2838450"/>
            <a:ext cx="8667750" cy="9525"/>
          </a:xfrm>
          <a:prstGeom prst="rect">
            <a:avLst/>
          </a:prstGeom>
          <a:solidFill>
            <a:srgbClr val="C7D2D1"/>
          </a:solidFill>
          <a:ln w="0">
            <a:noFill/>
            <a:prstDash val="solid"/>
          </a:ln>
        </p:spPr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2A945430-622B-4824-9FBE-07ACDD94A992}"/>
              </a:ext>
            </a:extLst>
          </p:cNvPr>
          <p:cNvSpPr>
            <a:spLocks noGrp="1"/>
          </p:cNvSpPr>
          <p:nvPr/>
        </p:nvSpPr>
        <p:spPr>
          <a:xfrm>
            <a:off x="762000" y="3314700"/>
            <a:ext cx="762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7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BC317FB7-027F-4F60-8DD0-28C96308E11E}"/>
              </a:ext>
            </a:extLst>
          </p:cNvPr>
          <p:cNvSpPr>
            <a:spLocks noGrp="1"/>
          </p:cNvSpPr>
          <p:nvPr/>
        </p:nvSpPr>
        <p:spPr>
          <a:xfrm>
            <a:off x="1714500" y="3343275"/>
            <a:ext cx="8667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20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配置Python、PyCharm和OpenCV环境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4E21EE3-3E5E-4A83-B3A4-D0C202A92E19}"/>
              </a:ext>
            </a:extLst>
          </p:cNvPr>
          <p:cNvSpPr>
            <a:spLocks noGrp="1"/>
          </p:cNvSpPr>
          <p:nvPr/>
        </p:nvSpPr>
        <p:spPr>
          <a:xfrm>
            <a:off x="1714500" y="4057650"/>
            <a:ext cx="8667750" cy="9525"/>
          </a:xfrm>
          <a:prstGeom prst="rect">
            <a:avLst/>
          </a:prstGeom>
          <a:solidFill>
            <a:srgbClr val="C7D2D1"/>
          </a:solidFill>
          <a:ln w="0">
            <a:noFill/>
            <a:prstDash val="solid"/>
          </a:ln>
        </p:spPr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7C68A21C-9BEC-4119-832A-BA23CEDDCFB1}"/>
              </a:ext>
            </a:extLst>
          </p:cNvPr>
          <p:cNvSpPr>
            <a:spLocks noGrp="1"/>
          </p:cNvSpPr>
          <p:nvPr/>
        </p:nvSpPr>
        <p:spPr>
          <a:xfrm>
            <a:off x="762000" y="4533900"/>
            <a:ext cx="762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70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3AF9D5EE-CF68-4828-AE45-344D316E3DE5}"/>
              </a:ext>
            </a:extLst>
          </p:cNvPr>
          <p:cNvSpPr>
            <a:spLocks noGrp="1"/>
          </p:cNvSpPr>
          <p:nvPr/>
        </p:nvSpPr>
        <p:spPr>
          <a:xfrm>
            <a:off x="1714500" y="4562475"/>
            <a:ext cx="8667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20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完成图片与视频逐帧检测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4D0DC94-7C23-48ED-9517-F7FC445FF62C}"/>
              </a:ext>
            </a:extLst>
          </p:cNvPr>
          <p:cNvSpPr>
            <a:spLocks noGrp="1"/>
          </p:cNvSpPr>
          <p:nvPr/>
        </p:nvSpPr>
        <p:spPr>
          <a:xfrm>
            <a:off x="1714500" y="5276850"/>
            <a:ext cx="8667750" cy="9525"/>
          </a:xfrm>
          <a:prstGeom prst="rect">
            <a:avLst/>
          </a:prstGeom>
          <a:solidFill>
            <a:srgbClr val="C7D2D1"/>
          </a:solidFill>
          <a:ln w="0">
            <a:noFill/>
            <a:prstDash val="solid"/>
          </a:ln>
        </p:spPr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324C9825-0ADD-463C-A52F-7B0797DE654B}"/>
              </a:ext>
            </a:extLst>
          </p:cNvPr>
          <p:cNvSpPr>
            <a:spLocks noGrp="1"/>
          </p:cNvSpPr>
          <p:nvPr/>
        </p:nvSpPr>
        <p:spPr>
          <a:xfrm>
            <a:off x="9763125" y="2152650"/>
            <a:ext cx="123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ctr">
              <a:defRPr sz="135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rPr>
              <a:t>课堂产出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94DF7625-BE81-4A98-87DF-C207794C5074}"/>
              </a:ext>
            </a:extLst>
          </p:cNvPr>
          <p:cNvSpPr>
            <a:spLocks noGrp="1"/>
          </p:cNvSpPr>
          <p:nvPr/>
        </p:nvSpPr>
        <p:spPr>
          <a:xfrm>
            <a:off x="9763125" y="2628900"/>
            <a:ext cx="1238250" cy="211455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C7D2D1"/>
            </a:solidFill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原理解释</a:t>
            </a:r>
          </a:p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操作记录</a:t>
            </a:r>
          </a:p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运行结果</a:t>
            </a:r>
          </a:p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问题复盘</a:t>
            </a:r>
          </a:p>
        </p:txBody>
      </p:sp>
    </p:spTree>
    <p:extLst>
      <p:ext uri="{BB962C8B-B14F-4D97-AF65-F5344CB8AC3E}">
        <p14:creationId xmlns:p14="http://schemas.microsoft.com/office/powerpoint/2010/main" val="1592205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">
            <a:extLst>
              <a:ext uri="{FF2B5EF4-FFF2-40B4-BE49-F238E27FC236}">
                <a16:creationId xmlns:a16="http://schemas.microsoft.com/office/drawing/2014/main" id="{9C1DF905-6911-45E6-9535-2616CBEBA8CB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项目 8  /  车道线检测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5C0E8D6C-ACB4-469D-BEA8-439A764A2F14}"/>
              </a:ext>
            </a:extLst>
          </p:cNvPr>
          <p:cNvSpPr>
            <a:spLocks noGrp="1"/>
          </p:cNvSpPr>
          <p:nvPr/>
        </p:nvSpPr>
        <p:spPr>
          <a:xfrm>
            <a:off x="571500" y="6286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先看系统全链路，再进入局部操作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50462A4D-9AEB-475F-BF0B-D311877DFAE4}"/>
              </a:ext>
            </a:extLst>
          </p:cNvPr>
          <p:cNvSpPr>
            <a:spLocks noGrp="1"/>
          </p:cNvSpPr>
          <p:nvPr/>
        </p:nvSpPr>
        <p:spPr>
          <a:xfrm>
            <a:off x="590550" y="1247775"/>
            <a:ext cx="1047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每个方框都对应一个可单独验证的子任务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5875515-C9D5-4A6B-A301-9779C9BC2752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049000" cy="19050"/>
          </a:xfrm>
          <a:prstGeom prst="rect">
            <a:avLst/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E117D6A7-7906-469B-B9FE-91237D76914C}"/>
              </a:ext>
            </a:extLst>
          </p:cNvPr>
          <p:cNvSpPr>
            <a:spLocks noGrp="1"/>
          </p:cNvSpPr>
          <p:nvPr/>
        </p:nvSpPr>
        <p:spPr>
          <a:xfrm>
            <a:off x="11115675" y="64008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 fontScale="89744" lnSpcReduction="10000"/>
          </a:bodyPr>
          <a:lstStyle/>
          <a:p>
            <a:pPr algn="r">
              <a:def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604D2ECC-6297-4200-ACCD-5FA2E15D8572}"/>
              </a:ext>
            </a:extLst>
          </p:cNvPr>
          <p:cNvSpPr>
            <a:spLocks noGrp="1"/>
          </p:cNvSpPr>
          <p:nvPr/>
        </p:nvSpPr>
        <p:spPr>
          <a:xfrm>
            <a:off x="762000" y="2714625"/>
            <a:ext cx="2424113" cy="110490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9525">
            <a:solidFill>
              <a:srgbClr val="007F76"/>
            </a:solidFill>
            <a:prstDash val="solid"/>
          </a:ln>
        </p:spPr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8A7824E6-0A8C-4A61-8255-3230B45F04C7}"/>
              </a:ext>
            </a:extLst>
          </p:cNvPr>
          <p:cNvSpPr>
            <a:spLocks noGrp="1"/>
          </p:cNvSpPr>
          <p:nvPr/>
        </p:nvSpPr>
        <p:spPr>
          <a:xfrm>
            <a:off x="3509963" y="2714625"/>
            <a:ext cx="2424113" cy="1104900"/>
          </a:xfrm>
          <a:prstGeom prst="roundRect">
            <a:avLst>
              <a:gd name="adj" fmla="val 5172"/>
            </a:avLst>
          </a:prstGeom>
          <a:solidFill>
            <a:srgbClr val="D9EEEA"/>
          </a:solidFill>
          <a:ln w="9525">
            <a:solidFill>
              <a:srgbClr val="007F76"/>
            </a:solidFill>
            <a:prstDash val="solid"/>
          </a:ln>
        </p:spPr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3ADAE625-C1B9-4CF0-AC93-6047343269AA}"/>
              </a:ext>
            </a:extLst>
          </p:cNvPr>
          <p:cNvSpPr>
            <a:spLocks noGrp="1"/>
          </p:cNvSpPr>
          <p:nvPr/>
        </p:nvSpPr>
        <p:spPr>
          <a:xfrm>
            <a:off x="6257925" y="2714625"/>
            <a:ext cx="2424113" cy="110490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9525">
            <a:solidFill>
              <a:srgbClr val="007F76"/>
            </a:solidFill>
            <a:prstDash val="solid"/>
          </a:ln>
        </p:spPr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903D1FF0-7C59-43A0-B058-B9F3964539BE}"/>
              </a:ext>
            </a:extLst>
          </p:cNvPr>
          <p:cNvSpPr>
            <a:spLocks noGrp="1"/>
          </p:cNvSpPr>
          <p:nvPr/>
        </p:nvSpPr>
        <p:spPr>
          <a:xfrm>
            <a:off x="9005888" y="2714625"/>
            <a:ext cx="2424113" cy="1104900"/>
          </a:xfrm>
          <a:prstGeom prst="roundRect">
            <a:avLst>
              <a:gd name="adj" fmla="val 5172"/>
            </a:avLst>
          </a:prstGeom>
          <a:solidFill>
            <a:srgbClr val="D9EEEA"/>
          </a:solidFill>
          <a:ln w="9525">
            <a:solidFill>
              <a:srgbClr val="007F76"/>
            </a:solidFill>
            <a:prstDash val="solid"/>
          </a:ln>
        </p:spPr>
      </p:sp>
      <p:cxnSp>
        <p:nvCxnSpPr>
          <p:cNvPr id="27" name="直接箭头连接符 26"/>
          <p:cNvCxnSpPr>
            <a:stCxn id="6" idx="3"/>
            <a:endCxn id="7" idx="1"/>
          </p:cNvCxnSpPr>
          <p:nvPr/>
        </p:nvCxnSpPr>
        <p:spPr>
          <a:xfrm>
            <a:off x="3186113" y="3267075"/>
            <a:ext cx="323850" cy="0"/>
          </a:xfrm>
          <a:prstGeom prst="straightConnector1">
            <a:avLst/>
          </a:prstGeom>
          <a:ln w="28575">
            <a:solidFill>
              <a:srgbClr val="F28C45"/>
            </a:solidFill>
            <a:prstDash val="solid"/>
            <a:headEnd type="arrow" w="med" len="med"/>
          </a:ln>
        </p:spPr>
      </p:cxnSp>
      <p:cxnSp>
        <p:nvCxnSpPr>
          <p:cNvPr id="28" name="直接箭头连接符 27"/>
          <p:cNvCxnSpPr>
            <a:stCxn id="7" idx="3"/>
            <a:endCxn id="8" idx="1"/>
          </p:cNvCxnSpPr>
          <p:nvPr/>
        </p:nvCxnSpPr>
        <p:spPr>
          <a:xfrm>
            <a:off x="5934076" y="3267075"/>
            <a:ext cx="323849" cy="0"/>
          </a:xfrm>
          <a:prstGeom prst="straightConnector1">
            <a:avLst/>
          </a:prstGeom>
          <a:ln w="28575">
            <a:solidFill>
              <a:srgbClr val="F28C45"/>
            </a:solidFill>
            <a:prstDash val="solid"/>
            <a:headEnd type="arrow" w="med" len="med"/>
          </a:ln>
        </p:spPr>
      </p:cxnSp>
      <p:cxnSp>
        <p:nvCxnSpPr>
          <p:cNvPr id="29" name="直接箭头连接符 28"/>
          <p:cNvCxnSpPr>
            <a:stCxn id="8" idx="3"/>
            <a:endCxn id="9" idx="1"/>
          </p:cNvCxnSpPr>
          <p:nvPr/>
        </p:nvCxnSpPr>
        <p:spPr>
          <a:xfrm>
            <a:off x="8682038" y="3267075"/>
            <a:ext cx="323850" cy="0"/>
          </a:xfrm>
          <a:prstGeom prst="straightConnector1">
            <a:avLst/>
          </a:prstGeom>
          <a:ln w="28575">
            <a:solidFill>
              <a:srgbClr val="F28C45"/>
            </a:solidFill>
            <a:prstDash val="solid"/>
            <a:headEnd type="arrow" w="med" len="med"/>
          </a:ln>
        </p:spPr>
      </p:cxnSp>
      <p:sp>
        <p:nvSpPr>
          <p:cNvPr id="13" name="text">
            <a:extLst>
              <a:ext uri="{FF2B5EF4-FFF2-40B4-BE49-F238E27FC236}">
                <a16:creationId xmlns:a16="http://schemas.microsoft.com/office/drawing/2014/main" id="{8C54FC25-3D4B-4E33-BA05-A989CFBF20B6}"/>
              </a:ext>
            </a:extLst>
          </p:cNvPr>
          <p:cNvSpPr>
            <a:spLocks noGrp="1"/>
          </p:cNvSpPr>
          <p:nvPr/>
        </p:nvSpPr>
        <p:spPr>
          <a:xfrm>
            <a:off x="857250" y="2876550"/>
            <a:ext cx="2233613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道路图像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478DB7C9-76A5-489B-8F57-96CCD0BE42C8}"/>
              </a:ext>
            </a:extLst>
          </p:cNvPr>
          <p:cNvSpPr>
            <a:spLocks noGrp="1"/>
          </p:cNvSpPr>
          <p:nvPr/>
        </p:nvSpPr>
        <p:spPr>
          <a:xfrm>
            <a:off x="3605213" y="2876550"/>
            <a:ext cx="2233613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边缘与ROI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CA659D00-4A1E-4CAC-8175-46779D9C1BDC}"/>
              </a:ext>
            </a:extLst>
          </p:cNvPr>
          <p:cNvSpPr>
            <a:spLocks noGrp="1"/>
          </p:cNvSpPr>
          <p:nvPr/>
        </p:nvSpPr>
        <p:spPr>
          <a:xfrm>
            <a:off x="6353175" y="2876550"/>
            <a:ext cx="2233613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直线拟合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1E1CB549-2796-4891-8E97-044A2E77CAA1}"/>
              </a:ext>
            </a:extLst>
          </p:cNvPr>
          <p:cNvSpPr>
            <a:spLocks noGrp="1"/>
          </p:cNvSpPr>
          <p:nvPr/>
        </p:nvSpPr>
        <p:spPr>
          <a:xfrm>
            <a:off x="9101138" y="2876550"/>
            <a:ext cx="2233613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结果叠加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EE9E4B81-16EA-4674-9293-4B7BA2908B91}"/>
              </a:ext>
            </a:extLst>
          </p:cNvPr>
          <p:cNvSpPr>
            <a:spLocks noGrp="1"/>
          </p:cNvSpPr>
          <p:nvPr/>
        </p:nvSpPr>
        <p:spPr>
          <a:xfrm>
            <a:off x="1952625" y="49053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ctr">
              <a:defRPr sz="18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调试原则：从链路左侧开始逐级验证输入和输出，不要跳步。</a:t>
            </a:r>
          </a:p>
        </p:txBody>
      </p:sp>
    </p:spTree>
    <p:extLst>
      <p:ext uri="{BB962C8B-B14F-4D97-AF65-F5344CB8AC3E}">
        <p14:creationId xmlns:p14="http://schemas.microsoft.com/office/powerpoint/2010/main" val="637513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">
            <a:extLst>
              <a:ext uri="{FF2B5EF4-FFF2-40B4-BE49-F238E27FC236}">
                <a16:creationId xmlns:a16="http://schemas.microsoft.com/office/drawing/2014/main" id="{6342BC4D-4F58-4A4D-95FC-9D1443BDA488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项目 8  /  车道线检测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D7D8F9BE-2B44-4656-9670-9342BE03B27A}"/>
              </a:ext>
            </a:extLst>
          </p:cNvPr>
          <p:cNvSpPr>
            <a:spLocks noGrp="1"/>
          </p:cNvSpPr>
          <p:nvPr/>
        </p:nvSpPr>
        <p:spPr>
          <a:xfrm>
            <a:off x="571500" y="6286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经典视觉流水线通过逐步减少无关信息突出车道结构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98DEBDF-D004-4C06-AC40-4E9A4AB4B1C1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049000" cy="19050"/>
          </a:xfrm>
          <a:prstGeom prst="rect">
            <a:avLst/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55EFBE8F-E901-4825-8EA5-756C17EFE22E}"/>
              </a:ext>
            </a:extLst>
          </p:cNvPr>
          <p:cNvSpPr>
            <a:spLocks noGrp="1"/>
          </p:cNvSpPr>
          <p:nvPr/>
        </p:nvSpPr>
        <p:spPr>
          <a:xfrm>
            <a:off x="11115675" y="64008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 fontScale="89744" lnSpcReduction="10000"/>
          </a:bodyPr>
          <a:lstStyle/>
          <a:p>
            <a:pPr algn="r">
              <a:def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CB290157-9134-4523-8EDA-CBF57B894583}"/>
              </a:ext>
            </a:extLst>
          </p:cNvPr>
          <p:cNvSpPr>
            <a:spLocks noGrp="1"/>
          </p:cNvSpPr>
          <p:nvPr/>
        </p:nvSpPr>
        <p:spPr>
          <a:xfrm>
            <a:off x="666750" y="2143125"/>
            <a:ext cx="533400" cy="533400"/>
          </a:xfrm>
          <a:prstGeom prst="roundRect">
            <a:avLst>
              <a:gd name="adj" fmla="val 7143"/>
            </a:avLst>
          </a:prstGeom>
          <a:solidFill>
            <a:srgbClr val="007F76"/>
          </a:solidFill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E9A966AB-768A-4A5A-86CA-39E02FEEA61E}"/>
              </a:ext>
            </a:extLst>
          </p:cNvPr>
          <p:cNvSpPr>
            <a:spLocks noGrp="1"/>
          </p:cNvSpPr>
          <p:nvPr/>
        </p:nvSpPr>
        <p:spPr>
          <a:xfrm>
            <a:off x="1390650" y="2124075"/>
            <a:ext cx="4524375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灰度化减少颜色维度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56CC3BF4-1DBF-4088-8A2C-256FD4C22EE2}"/>
              </a:ext>
            </a:extLst>
          </p:cNvPr>
          <p:cNvSpPr>
            <a:spLocks noGrp="1"/>
          </p:cNvSpPr>
          <p:nvPr/>
        </p:nvSpPr>
        <p:spPr>
          <a:xfrm>
            <a:off x="6191250" y="2143125"/>
            <a:ext cx="533400" cy="533400"/>
          </a:xfrm>
          <a:prstGeom prst="roundRect">
            <a:avLst>
              <a:gd name="adj" fmla="val 7143"/>
            </a:avLst>
          </a:prstGeom>
          <a:solidFill>
            <a:srgbClr val="007F76"/>
          </a:solidFill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31D97999-76C3-451A-B8DB-2622DAA500E3}"/>
              </a:ext>
            </a:extLst>
          </p:cNvPr>
          <p:cNvSpPr>
            <a:spLocks noGrp="1"/>
          </p:cNvSpPr>
          <p:nvPr/>
        </p:nvSpPr>
        <p:spPr>
          <a:xfrm>
            <a:off x="6915150" y="2124075"/>
            <a:ext cx="4524375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高斯滤波抑制高频噪声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5F728EB1-EA25-4F76-B0F2-4E7A3A3E6E35}"/>
              </a:ext>
            </a:extLst>
          </p:cNvPr>
          <p:cNvSpPr>
            <a:spLocks noGrp="1"/>
          </p:cNvSpPr>
          <p:nvPr/>
        </p:nvSpPr>
        <p:spPr>
          <a:xfrm>
            <a:off x="666750" y="4048125"/>
            <a:ext cx="533400" cy="533400"/>
          </a:xfrm>
          <a:prstGeom prst="roundRect">
            <a:avLst>
              <a:gd name="adj" fmla="val 7143"/>
            </a:avLst>
          </a:prstGeom>
          <a:solidFill>
            <a:srgbClr val="007F76"/>
          </a:solidFill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61543BB3-F699-4237-A112-066BA007ABDE}"/>
              </a:ext>
            </a:extLst>
          </p:cNvPr>
          <p:cNvSpPr>
            <a:spLocks noGrp="1"/>
          </p:cNvSpPr>
          <p:nvPr/>
        </p:nvSpPr>
        <p:spPr>
          <a:xfrm>
            <a:off x="1390650" y="4029075"/>
            <a:ext cx="4524375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Canny提取强梯度边缘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CD15DA90-7AF1-4881-B642-D0E21C93CFFB}"/>
              </a:ext>
            </a:extLst>
          </p:cNvPr>
          <p:cNvSpPr>
            <a:spLocks noGrp="1"/>
          </p:cNvSpPr>
          <p:nvPr/>
        </p:nvSpPr>
        <p:spPr>
          <a:xfrm>
            <a:off x="6191250" y="4048125"/>
            <a:ext cx="533400" cy="533400"/>
          </a:xfrm>
          <a:prstGeom prst="roundRect">
            <a:avLst>
              <a:gd name="adj" fmla="val 7143"/>
            </a:avLst>
          </a:prstGeom>
          <a:solidFill>
            <a:srgbClr val="F28C45"/>
          </a:solidFill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B346A8B4-26C6-4F44-AE16-FE794DA78E66}"/>
              </a:ext>
            </a:extLst>
          </p:cNvPr>
          <p:cNvSpPr>
            <a:spLocks noGrp="1"/>
          </p:cNvSpPr>
          <p:nvPr/>
        </p:nvSpPr>
        <p:spPr>
          <a:xfrm>
            <a:off x="6915150" y="4029075"/>
            <a:ext cx="4524375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ROI与霍夫变换筛选道路直线</a:t>
            </a:r>
          </a:p>
        </p:txBody>
      </p:sp>
    </p:spTree>
    <p:extLst>
      <p:ext uri="{BB962C8B-B14F-4D97-AF65-F5344CB8AC3E}">
        <p14:creationId xmlns:p14="http://schemas.microsoft.com/office/powerpoint/2010/main" val="528384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">
            <a:extLst>
              <a:ext uri="{FF2B5EF4-FFF2-40B4-BE49-F238E27FC236}">
                <a16:creationId xmlns:a16="http://schemas.microsoft.com/office/drawing/2014/main" id="{C36488D0-61CC-450F-9BE4-A829A2A96EF0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项目 8  /  车道线检测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7127F8CC-B8A0-4665-9B5B-E1820C3CAF56}"/>
              </a:ext>
            </a:extLst>
          </p:cNvPr>
          <p:cNvSpPr>
            <a:spLocks noGrp="1"/>
          </p:cNvSpPr>
          <p:nvPr/>
        </p:nvSpPr>
        <p:spPr>
          <a:xfrm>
            <a:off x="571500" y="6286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霍夫直线表示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27128C2C-EE9D-4770-9A43-4D7090E3E633}"/>
              </a:ext>
            </a:extLst>
          </p:cNvPr>
          <p:cNvSpPr>
            <a:spLocks noGrp="1"/>
          </p:cNvSpPr>
          <p:nvPr/>
        </p:nvSpPr>
        <p:spPr>
          <a:xfrm>
            <a:off x="590550" y="1247775"/>
            <a:ext cx="1047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把参数、公式或规则变成可测量的工程判断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23D60A8-F4AD-4F55-B4BD-1F7DBB845FBB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049000" cy="19050"/>
          </a:xfrm>
          <a:prstGeom prst="rect">
            <a:avLst/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A780F9D3-9C9B-4352-AE47-2E5A568DB23C}"/>
              </a:ext>
            </a:extLst>
          </p:cNvPr>
          <p:cNvSpPr>
            <a:spLocks noGrp="1"/>
          </p:cNvSpPr>
          <p:nvPr/>
        </p:nvSpPr>
        <p:spPr>
          <a:xfrm>
            <a:off x="11115675" y="64008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 fontScale="89744" lnSpcReduction="10000"/>
          </a:bodyPr>
          <a:lstStyle/>
          <a:p>
            <a:pPr algn="r">
              <a:def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30FEA7AF-819C-45E7-A705-684A0BF0BD51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4762500" cy="3190875"/>
          </a:xfrm>
          <a:prstGeom prst="roundRect">
            <a:avLst>
              <a:gd name="adj" fmla="val 1791"/>
            </a:avLst>
          </a:prstGeom>
          <a:solidFill>
            <a:srgbClr val="10282B"/>
          </a:solidFill>
          <a:ln w="0">
            <a:noFill/>
            <a:prstDash val="solid"/>
          </a:ln>
        </p:spPr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3EF8AA84-F7DA-4FF2-B234-7F6BD1FF0006}"/>
              </a:ext>
            </a:extLst>
          </p:cNvPr>
          <p:cNvSpPr>
            <a:spLocks noGrp="1"/>
          </p:cNvSpPr>
          <p:nvPr/>
        </p:nvSpPr>
        <p:spPr>
          <a:xfrm>
            <a:off x="1066800" y="2619375"/>
            <a:ext cx="40005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ρ = x cosθ + y sinθ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55FDFEDF-89AE-4EF1-BB22-14F50ABAAAD9}"/>
              </a:ext>
            </a:extLst>
          </p:cNvPr>
          <p:cNvSpPr>
            <a:spLocks noGrp="1"/>
          </p:cNvSpPr>
          <p:nvPr/>
        </p:nvSpPr>
        <p:spPr>
          <a:xfrm>
            <a:off x="1066800" y="3714750"/>
            <a:ext cx="40005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2025" b="0">
                <a:solidFill>
                  <a:srgbClr val="D8E8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D8E8E6"/>
                </a:solidFill>
                <a:latin typeface="Microsoft YaHei"/>
                <a:ea typeface="Microsoft YaHei"/>
                <a:cs typeface="Microsoft YaHei"/>
              </a:rPr>
              <a:t>ρ表示原点到直线距离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0EE1A0E9-07C0-434F-A2CA-541391D43517}"/>
              </a:ext>
            </a:extLst>
          </p:cNvPr>
          <p:cNvSpPr>
            <a:spLocks noGrp="1"/>
          </p:cNvSpPr>
          <p:nvPr/>
        </p:nvSpPr>
        <p:spPr>
          <a:xfrm>
            <a:off x="6000750" y="2381250"/>
            <a:ext cx="495300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2325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θ表示直线法向角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BFBB97C7-C389-4775-B223-0B566A3ED27A}"/>
              </a:ext>
            </a:extLst>
          </p:cNvPr>
          <p:cNvSpPr>
            <a:spLocks noGrp="1"/>
          </p:cNvSpPr>
          <p:nvPr/>
        </p:nvSpPr>
        <p:spPr>
          <a:xfrm>
            <a:off x="6000750" y="4191000"/>
            <a:ext cx="4953000" cy="1095375"/>
          </a:xfrm>
          <a:prstGeom prst="roundRect">
            <a:avLst>
              <a:gd name="adj" fmla="val 5217"/>
            </a:avLst>
          </a:prstGeom>
          <a:solidFill>
            <a:srgbClr val="F6F8F7"/>
          </a:solidFill>
          <a:ln w="9525">
            <a:solidFill>
              <a:srgbClr val="C7D2D1"/>
            </a:solidFill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72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课堂追问</a:t>
            </a:r>
          </a:p>
          <a:p>
            <a:pPr algn="l">
              <a:defRPr sz="172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这个参数如果偏大或偏小，系统结果会怎样变化？</a:t>
            </a:r>
          </a:p>
        </p:txBody>
      </p:sp>
    </p:spTree>
    <p:extLst>
      <p:ext uri="{BB962C8B-B14F-4D97-AF65-F5344CB8AC3E}">
        <p14:creationId xmlns:p14="http://schemas.microsoft.com/office/powerpoint/2010/main" val="960393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">
            <a:extLst>
              <a:ext uri="{FF2B5EF4-FFF2-40B4-BE49-F238E27FC236}">
                <a16:creationId xmlns:a16="http://schemas.microsoft.com/office/drawing/2014/main" id="{0890AF2C-CC3A-4CFA-9C6E-FEE818F1756C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项目 8  /  车道线检测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B39A3AB9-AB5B-45C7-8ACE-CD0D742F1E4D}"/>
              </a:ext>
            </a:extLst>
          </p:cNvPr>
          <p:cNvSpPr>
            <a:spLocks noGrp="1"/>
          </p:cNvSpPr>
          <p:nvPr/>
        </p:nvSpPr>
        <p:spPr>
          <a:xfrm>
            <a:off x="571500" y="6286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参数不是越敏感越好，而要在不同帧之间稳定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2678BC3-0BF2-4BF5-B50B-E3E3962E74F6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049000" cy="19050"/>
          </a:xfrm>
          <a:prstGeom prst="rect">
            <a:avLst/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A1986C52-7449-46EB-9045-E3EA79B7C0F8}"/>
              </a:ext>
            </a:extLst>
          </p:cNvPr>
          <p:cNvSpPr>
            <a:spLocks noGrp="1"/>
          </p:cNvSpPr>
          <p:nvPr/>
        </p:nvSpPr>
        <p:spPr>
          <a:xfrm>
            <a:off x="11115675" y="64008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 fontScale="89744" lnSpcReduction="10000"/>
          </a:bodyPr>
          <a:lstStyle/>
          <a:p>
            <a:pPr algn="r">
              <a:def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3E9DD9C6-D404-44BE-A6C1-9A79BDEA178D}"/>
              </a:ext>
            </a:extLst>
          </p:cNvPr>
          <p:cNvSpPr>
            <a:spLocks noGrp="1"/>
          </p:cNvSpPr>
          <p:nvPr/>
        </p:nvSpPr>
        <p:spPr>
          <a:xfrm>
            <a:off x="666750" y="2047875"/>
            <a:ext cx="50958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1. Canny阈值影响边缘数量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522742B6-8D46-4159-942F-A64600FB460B}"/>
              </a:ext>
            </a:extLst>
          </p:cNvPr>
          <p:cNvSpPr>
            <a:spLocks noGrp="1"/>
          </p:cNvSpPr>
          <p:nvPr/>
        </p:nvSpPr>
        <p:spPr>
          <a:xfrm>
            <a:off x="666750" y="2924175"/>
            <a:ext cx="50958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650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2. ROI顶点应覆盖道路消失点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D7BC95EE-45BC-4619-9780-1FFF23FAD28D}"/>
              </a:ext>
            </a:extLst>
          </p:cNvPr>
          <p:cNvSpPr>
            <a:spLocks noGrp="1"/>
          </p:cNvSpPr>
          <p:nvPr/>
        </p:nvSpPr>
        <p:spPr>
          <a:xfrm>
            <a:off x="666750" y="3800475"/>
            <a:ext cx="50958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650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3. 斜率过滤区分左右车道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FD13F3BE-2DC3-48A5-9C57-5F6E9E6732B1}"/>
              </a:ext>
            </a:extLst>
          </p:cNvPr>
          <p:cNvSpPr>
            <a:spLocks noGrp="1"/>
          </p:cNvSpPr>
          <p:nvPr/>
        </p:nvSpPr>
        <p:spPr>
          <a:xfrm>
            <a:off x="666750" y="4676775"/>
            <a:ext cx="50958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650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4. 视频结果需做时域平滑减少抖动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97D56BB7-386A-4842-8942-D9AC6EBB9EBB}"/>
              </a:ext>
            </a:extLst>
          </p:cNvPr>
          <p:cNvSpPr>
            <a:spLocks noGrp="1"/>
          </p:cNvSpPr>
          <p:nvPr/>
        </p:nvSpPr>
        <p:spPr>
          <a:xfrm>
            <a:off x="6134100" y="1990725"/>
            <a:ext cx="5067300" cy="3448050"/>
          </a:xfrm>
          <a:prstGeom prst="roundRect">
            <a:avLst>
              <a:gd name="adj" fmla="val 1657"/>
            </a:avLst>
          </a:prstGeom>
          <a:solidFill>
            <a:srgbClr val="FFFFFF"/>
          </a:solidFill>
          <a:ln w="9525">
            <a:solidFill>
              <a:srgbClr val="C7D2D1"/>
            </a:solidFill>
            <a:prstDash val="solid"/>
          </a:ln>
        </p:spPr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425816" y="2047875"/>
            <a:ext cx="4483867" cy="3333750"/>
          </a:xfrm>
          <a:prstGeom prst="roundRect">
            <a:avLst>
              <a:gd name="adj" fmla="val 1143"/>
            </a:avLst>
          </a:prstGeom>
        </p:spPr>
      </p:pic>
      <p:sp>
        <p:nvSpPr>
          <p:cNvPr id="11" name="text">
            <a:extLst>
              <a:ext uri="{FF2B5EF4-FFF2-40B4-BE49-F238E27FC236}">
                <a16:creationId xmlns:a16="http://schemas.microsoft.com/office/drawing/2014/main" id="{0DC10D6E-1222-4C58-862C-60ACDEC64B2C}"/>
              </a:ext>
            </a:extLst>
          </p:cNvPr>
          <p:cNvSpPr>
            <a:spLocks noGrp="1"/>
          </p:cNvSpPr>
          <p:nvPr/>
        </p:nvSpPr>
        <p:spPr>
          <a:xfrm>
            <a:off x="6191250" y="5572125"/>
            <a:ext cx="4953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ctr">
              <a:defRPr sz="135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rPr>
              <a:t>建模或软件配置任务：结构清楚、命名一致、可复现</a:t>
            </a:r>
          </a:p>
        </p:txBody>
      </p:sp>
    </p:spTree>
    <p:extLst>
      <p:ext uri="{BB962C8B-B14F-4D97-AF65-F5344CB8AC3E}">
        <p14:creationId xmlns:p14="http://schemas.microsoft.com/office/powerpoint/2010/main" val="12529486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">
            <a:extLst>
              <a:ext uri="{FF2B5EF4-FFF2-40B4-BE49-F238E27FC236}">
                <a16:creationId xmlns:a16="http://schemas.microsoft.com/office/drawing/2014/main" id="{7A03B6B6-C0A0-4101-B67D-6C55AB26EFD7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项目 8  /  车道线检测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712A20D9-6C29-44BD-9D26-2682FEBEA01D}"/>
              </a:ext>
            </a:extLst>
          </p:cNvPr>
          <p:cNvSpPr>
            <a:spLocks noGrp="1"/>
          </p:cNvSpPr>
          <p:nvPr/>
        </p:nvSpPr>
        <p:spPr>
          <a:xfrm>
            <a:off x="571500" y="6286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五步完成项目主流程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B6931006-5F21-4A61-A63C-51CA72CB54E1}"/>
              </a:ext>
            </a:extLst>
          </p:cNvPr>
          <p:cNvSpPr>
            <a:spLocks noGrp="1"/>
          </p:cNvSpPr>
          <p:nvPr/>
        </p:nvSpPr>
        <p:spPr>
          <a:xfrm>
            <a:off x="590550" y="1247775"/>
            <a:ext cx="1047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每完成一步就保留一个可追溯证据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C364366-F3E2-438C-8E92-5EB896602F45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049000" cy="19050"/>
          </a:xfrm>
          <a:prstGeom prst="rect">
            <a:avLst/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3ECC7B60-A2DE-44C9-95C0-E5910F8715C4}"/>
              </a:ext>
            </a:extLst>
          </p:cNvPr>
          <p:cNvSpPr>
            <a:spLocks noGrp="1"/>
          </p:cNvSpPr>
          <p:nvPr/>
        </p:nvSpPr>
        <p:spPr>
          <a:xfrm>
            <a:off x="11115675" y="64008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 fontScale="89744" lnSpcReduction="10000"/>
          </a:bodyPr>
          <a:lstStyle/>
          <a:p>
            <a:pPr algn="r">
              <a:def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3B72EA1A-ADDE-48E2-AF50-25923C4A5C32}"/>
              </a:ext>
            </a:extLst>
          </p:cNvPr>
          <p:cNvSpPr>
            <a:spLocks noGrp="1"/>
          </p:cNvSpPr>
          <p:nvPr/>
        </p:nvSpPr>
        <p:spPr>
          <a:xfrm>
            <a:off x="762000" y="2019300"/>
            <a:ext cx="428625" cy="428625"/>
          </a:xfrm>
          <a:prstGeom prst="roundRect">
            <a:avLst>
              <a:gd name="adj" fmla="val 8889"/>
            </a:avLst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64272FD1-8B34-4329-8D80-5E01F2603839}"/>
              </a:ext>
            </a:extLst>
          </p:cNvPr>
          <p:cNvSpPr>
            <a:spLocks noGrp="1"/>
          </p:cNvSpPr>
          <p:nvPr/>
        </p:nvSpPr>
        <p:spPr>
          <a:xfrm>
            <a:off x="762000" y="2057400"/>
            <a:ext cx="428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 fontScale="95238"/>
          </a:bodyPr>
          <a:lstStyle/>
          <a:p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616C549C-D58C-4C4D-97CD-D95AB0387EDC}"/>
              </a:ext>
            </a:extLst>
          </p:cNvPr>
          <p:cNvSpPr>
            <a:spLocks noGrp="1"/>
          </p:cNvSpPr>
          <p:nvPr/>
        </p:nvSpPr>
        <p:spPr>
          <a:xfrm>
            <a:off x="1428750" y="1990725"/>
            <a:ext cx="8667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建立Python项目与解释器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26137448-B118-40A6-9B88-FC33256CBAF2}"/>
              </a:ext>
            </a:extLst>
          </p:cNvPr>
          <p:cNvSpPr>
            <a:spLocks noGrp="1"/>
          </p:cNvSpPr>
          <p:nvPr/>
        </p:nvSpPr>
        <p:spPr>
          <a:xfrm>
            <a:off x="10001250" y="2066925"/>
            <a:ext cx="1381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r">
              <a:defRPr sz="120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截图/原理图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C9A36D87-E0D6-4591-8B9A-56577EC6C385}"/>
              </a:ext>
            </a:extLst>
          </p:cNvPr>
          <p:cNvSpPr>
            <a:spLocks noGrp="1"/>
          </p:cNvSpPr>
          <p:nvPr/>
        </p:nvSpPr>
        <p:spPr>
          <a:xfrm>
            <a:off x="762000" y="2838450"/>
            <a:ext cx="428625" cy="428625"/>
          </a:xfrm>
          <a:prstGeom prst="roundRect">
            <a:avLst>
              <a:gd name="adj" fmla="val 8889"/>
            </a:avLst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66273AB8-B455-4352-BE60-A165CC5B4F0F}"/>
              </a:ext>
            </a:extLst>
          </p:cNvPr>
          <p:cNvSpPr>
            <a:spLocks noGrp="1"/>
          </p:cNvSpPr>
          <p:nvPr/>
        </p:nvSpPr>
        <p:spPr>
          <a:xfrm>
            <a:off x="762000" y="2876550"/>
            <a:ext cx="428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 fontScale="95238"/>
          </a:bodyPr>
          <a:lstStyle/>
          <a:p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A183795F-F095-4244-B774-4A7BA861EF52}"/>
              </a:ext>
            </a:extLst>
          </p:cNvPr>
          <p:cNvSpPr>
            <a:spLocks noGrp="1"/>
          </p:cNvSpPr>
          <p:nvPr/>
        </p:nvSpPr>
        <p:spPr>
          <a:xfrm>
            <a:off x="1428750" y="2809875"/>
            <a:ext cx="8667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安装opencv-python、numpy、moviepy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75460558-A750-4368-9740-128F7A53A848}"/>
              </a:ext>
            </a:extLst>
          </p:cNvPr>
          <p:cNvSpPr>
            <a:spLocks noGrp="1"/>
          </p:cNvSpPr>
          <p:nvPr/>
        </p:nvSpPr>
        <p:spPr>
          <a:xfrm>
            <a:off x="10001250" y="2886075"/>
            <a:ext cx="1381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r">
              <a:defRPr sz="120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配置/接线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8C6795A8-B1E2-4928-A35E-2A49C6F20288}"/>
              </a:ext>
            </a:extLst>
          </p:cNvPr>
          <p:cNvSpPr>
            <a:spLocks noGrp="1"/>
          </p:cNvSpPr>
          <p:nvPr/>
        </p:nvSpPr>
        <p:spPr>
          <a:xfrm>
            <a:off x="762000" y="3657600"/>
            <a:ext cx="428625" cy="428625"/>
          </a:xfrm>
          <a:prstGeom prst="roundRect">
            <a:avLst>
              <a:gd name="adj" fmla="val 8889"/>
            </a:avLst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9FDE9F60-547D-4D0A-98FE-510E2CCC4A49}"/>
              </a:ext>
            </a:extLst>
          </p:cNvPr>
          <p:cNvSpPr>
            <a:spLocks noGrp="1"/>
          </p:cNvSpPr>
          <p:nvPr/>
        </p:nvSpPr>
        <p:spPr>
          <a:xfrm>
            <a:off x="762000" y="3695700"/>
            <a:ext cx="428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 fontScale="95238"/>
          </a:bodyPr>
          <a:lstStyle/>
          <a:p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63D92ED5-7A23-4C1D-BF84-42E9EE227978}"/>
              </a:ext>
            </a:extLst>
          </p:cNvPr>
          <p:cNvSpPr>
            <a:spLocks noGrp="1"/>
          </p:cNvSpPr>
          <p:nvPr/>
        </p:nvSpPr>
        <p:spPr>
          <a:xfrm>
            <a:off x="1428750" y="3629025"/>
            <a:ext cx="8667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准备测试图片和视频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ACEA5A0C-F7EA-4DEC-8C1A-C9F59E840FF8}"/>
              </a:ext>
            </a:extLst>
          </p:cNvPr>
          <p:cNvSpPr>
            <a:spLocks noGrp="1"/>
          </p:cNvSpPr>
          <p:nvPr/>
        </p:nvSpPr>
        <p:spPr>
          <a:xfrm>
            <a:off x="10001250" y="3705225"/>
            <a:ext cx="1381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r">
              <a:defRPr sz="120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编译/上传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9094531D-E14E-4F7D-8B08-097682552FAB}"/>
              </a:ext>
            </a:extLst>
          </p:cNvPr>
          <p:cNvSpPr>
            <a:spLocks noGrp="1"/>
          </p:cNvSpPr>
          <p:nvPr/>
        </p:nvSpPr>
        <p:spPr>
          <a:xfrm>
            <a:off x="762000" y="4476750"/>
            <a:ext cx="428625" cy="428625"/>
          </a:xfrm>
          <a:prstGeom prst="roundRect">
            <a:avLst>
              <a:gd name="adj" fmla="val 8889"/>
            </a:avLst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0E9410C8-E72B-49DF-A1C9-269A2CA4CA44}"/>
              </a:ext>
            </a:extLst>
          </p:cNvPr>
          <p:cNvSpPr>
            <a:spLocks noGrp="1"/>
          </p:cNvSpPr>
          <p:nvPr/>
        </p:nvSpPr>
        <p:spPr>
          <a:xfrm>
            <a:off x="762000" y="4514850"/>
            <a:ext cx="428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 fontScale="95238"/>
          </a:bodyPr>
          <a:lstStyle/>
          <a:p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150A0383-E76E-4D49-AEF0-549FE9BE5F9F}"/>
              </a:ext>
            </a:extLst>
          </p:cNvPr>
          <p:cNvSpPr>
            <a:spLocks noGrp="1"/>
          </p:cNvSpPr>
          <p:nvPr/>
        </p:nvSpPr>
        <p:spPr>
          <a:xfrm>
            <a:off x="1428750" y="4448175"/>
            <a:ext cx="8667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实现process_an_image流水线</a:t>
            </a:r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751115F5-3B16-4E1D-97FD-AFEBAAE8CE5A}"/>
              </a:ext>
            </a:extLst>
          </p:cNvPr>
          <p:cNvSpPr>
            <a:spLocks noGrp="1"/>
          </p:cNvSpPr>
          <p:nvPr/>
        </p:nvSpPr>
        <p:spPr>
          <a:xfrm>
            <a:off x="10001250" y="4524375"/>
            <a:ext cx="1381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r">
              <a:defRPr sz="120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数据/话题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01A7EFB8-2EAA-4CAD-B228-640A1039A457}"/>
              </a:ext>
            </a:extLst>
          </p:cNvPr>
          <p:cNvSpPr>
            <a:spLocks noGrp="1"/>
          </p:cNvSpPr>
          <p:nvPr/>
        </p:nvSpPr>
        <p:spPr>
          <a:xfrm>
            <a:off x="762000" y="5295900"/>
            <a:ext cx="428625" cy="428625"/>
          </a:xfrm>
          <a:prstGeom prst="roundRect">
            <a:avLst>
              <a:gd name="adj" fmla="val 8889"/>
            </a:avLst>
          </a:prstGeom>
          <a:solidFill>
            <a:srgbClr val="F28C45"/>
          </a:solidFill>
          <a:ln w="0">
            <a:noFill/>
            <a:prstDash val="solid"/>
          </a:ln>
        </p:spPr>
      </p:sp>
      <p:sp>
        <p:nvSpPr>
          <p:cNvPr id="23" name="text">
            <a:extLst>
              <a:ext uri="{FF2B5EF4-FFF2-40B4-BE49-F238E27FC236}">
                <a16:creationId xmlns:a16="http://schemas.microsoft.com/office/drawing/2014/main" id="{6E60DA1E-15B5-4DFD-BD48-23F35A932697}"/>
              </a:ext>
            </a:extLst>
          </p:cNvPr>
          <p:cNvSpPr>
            <a:spLocks noGrp="1"/>
          </p:cNvSpPr>
          <p:nvPr/>
        </p:nvSpPr>
        <p:spPr>
          <a:xfrm>
            <a:off x="762000" y="5334000"/>
            <a:ext cx="428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 fontScale="95238"/>
          </a:bodyPr>
          <a:lstStyle/>
          <a:p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4" name="text">
            <a:extLst>
              <a:ext uri="{FF2B5EF4-FFF2-40B4-BE49-F238E27FC236}">
                <a16:creationId xmlns:a16="http://schemas.microsoft.com/office/drawing/2014/main" id="{ADB79611-E632-422E-94F4-2651EC03D750}"/>
              </a:ext>
            </a:extLst>
          </p:cNvPr>
          <p:cNvSpPr>
            <a:spLocks noGrp="1"/>
          </p:cNvSpPr>
          <p:nvPr/>
        </p:nvSpPr>
        <p:spPr>
          <a:xfrm>
            <a:off x="1428750" y="5267325"/>
            <a:ext cx="8667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逐帧处理并写出结果视频</a:t>
            </a:r>
          </a:p>
        </p:txBody>
      </p:sp>
      <p:sp>
        <p:nvSpPr>
          <p:cNvPr id="25" name="text">
            <a:extLst>
              <a:ext uri="{FF2B5EF4-FFF2-40B4-BE49-F238E27FC236}">
                <a16:creationId xmlns:a16="http://schemas.microsoft.com/office/drawing/2014/main" id="{148DEF94-4C2A-47BA-A55C-A60594A09BF4}"/>
              </a:ext>
            </a:extLst>
          </p:cNvPr>
          <p:cNvSpPr>
            <a:spLocks noGrp="1"/>
          </p:cNvSpPr>
          <p:nvPr/>
        </p:nvSpPr>
        <p:spPr>
          <a:xfrm>
            <a:off x="10001250" y="5343525"/>
            <a:ext cx="1381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r">
              <a:defRPr sz="120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运行结果</a:t>
            </a:r>
          </a:p>
        </p:txBody>
      </p:sp>
    </p:spTree>
    <p:extLst>
      <p:ext uri="{BB962C8B-B14F-4D97-AF65-F5344CB8AC3E}">
        <p14:creationId xmlns:p14="http://schemas.microsoft.com/office/powerpoint/2010/main" val="304309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">
            <a:extLst>
              <a:ext uri="{FF2B5EF4-FFF2-40B4-BE49-F238E27FC236}">
                <a16:creationId xmlns:a16="http://schemas.microsoft.com/office/drawing/2014/main" id="{72C15995-3CA1-4FAE-95A1-DC0291DAA746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项目 8  /  车道线检测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2A90C84D-0E30-4451-9E30-16E975FB75A8}"/>
              </a:ext>
            </a:extLst>
          </p:cNvPr>
          <p:cNvSpPr>
            <a:spLocks noGrp="1"/>
          </p:cNvSpPr>
          <p:nvPr/>
        </p:nvSpPr>
        <p:spPr>
          <a:xfrm>
            <a:off x="571500" y="6286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视频逐帧处理入口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C6700B83-9489-4A77-A79F-CEC142F4A38A}"/>
              </a:ext>
            </a:extLst>
          </p:cNvPr>
          <p:cNvSpPr>
            <a:spLocks noGrp="1"/>
          </p:cNvSpPr>
          <p:nvPr/>
        </p:nvSpPr>
        <p:spPr>
          <a:xfrm>
            <a:off x="590550" y="1247775"/>
            <a:ext cx="1047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先读输入与输出，再读关键参数和异常分支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9B75149-0D32-4413-A3A1-9F136547E9CD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049000" cy="19050"/>
          </a:xfrm>
          <a:prstGeom prst="rect">
            <a:avLst/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F612BBB7-AB82-4EBD-A7E5-31C3AA241627}"/>
              </a:ext>
            </a:extLst>
          </p:cNvPr>
          <p:cNvSpPr>
            <a:spLocks noGrp="1"/>
          </p:cNvSpPr>
          <p:nvPr/>
        </p:nvSpPr>
        <p:spPr>
          <a:xfrm>
            <a:off x="11115675" y="64008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 fontScale="89744" lnSpcReduction="10000"/>
          </a:bodyPr>
          <a:lstStyle/>
          <a:p>
            <a:pPr algn="r">
              <a:def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4FEEEB55-F943-4CE8-85BF-C1C4A2B744BA}"/>
              </a:ext>
            </a:extLst>
          </p:cNvPr>
          <p:cNvSpPr>
            <a:spLocks noGrp="1"/>
          </p:cNvSpPr>
          <p:nvPr/>
        </p:nvSpPr>
        <p:spPr>
          <a:xfrm>
            <a:off x="590550" y="1952625"/>
            <a:ext cx="7429500" cy="3952875"/>
          </a:xfrm>
          <a:prstGeom prst="roundRect">
            <a:avLst>
              <a:gd name="adj" fmla="val 1446"/>
            </a:avLst>
          </a:prstGeom>
          <a:solidFill>
            <a:srgbClr val="10282B"/>
          </a:solidFill>
          <a:ln w="0">
            <a:noFill/>
            <a:prstDash val="solid"/>
          </a:ln>
        </p:spPr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BE7A9987-B0A3-4DFA-918D-2873FD055D83}"/>
              </a:ext>
            </a:extLst>
          </p:cNvPr>
          <p:cNvSpPr>
            <a:spLocks noGrp="1"/>
          </p:cNvSpPr>
          <p:nvPr/>
        </p:nvSpPr>
        <p:spPr>
          <a:xfrm>
            <a:off x="828675" y="2171700"/>
            <a:ext cx="6953250" cy="3524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425" b="0">
                <a:solidFill>
                  <a:srgbClr val="E9F4F2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9F4F2"/>
                </a:solidFill>
                <a:latin typeface="Consolas"/>
                <a:ea typeface="Consolas"/>
                <a:cs typeface="Consolas"/>
              </a:rPr>
              <a:t>from moviepy.editor import VideoFileClip</a:t>
            </a:r>
          </a:p>
          <a:p>
            <a:endParaRPr sz="1425" b="0">
              <a:solidFill>
                <a:srgbClr val="E9F4F2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425" b="0">
                <a:solidFill>
                  <a:srgbClr val="E9F4F2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9F4F2"/>
                </a:solidFill>
                <a:latin typeface="Consolas"/>
                <a:ea typeface="Consolas"/>
                <a:cs typeface="Consolas"/>
              </a:rPr>
              <a:t>output = 'video_result.mp4'</a:t>
            </a:r>
          </a:p>
          <a:p>
            <a:pPr algn="l">
              <a:defRPr sz="1425" b="0">
                <a:solidFill>
                  <a:srgbClr val="E9F4F2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9F4F2"/>
                </a:solidFill>
                <a:latin typeface="Consolas"/>
                <a:ea typeface="Consolas"/>
                <a:cs typeface="Consolas"/>
              </a:rPr>
              <a:t>clip = VideoFileClip('video_input.mp4')</a:t>
            </a:r>
          </a:p>
          <a:p>
            <a:pPr algn="l">
              <a:defRPr sz="1425" b="0">
                <a:solidFill>
                  <a:srgbClr val="E9F4F2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9F4F2"/>
                </a:solidFill>
                <a:latin typeface="Consolas"/>
                <a:ea typeface="Consolas"/>
                <a:cs typeface="Consolas"/>
              </a:rPr>
              <a:t>out_clip = clip.fl_image(process_an_image)</a:t>
            </a:r>
          </a:p>
          <a:p>
            <a:pPr algn="l">
              <a:defRPr sz="1425" b="0">
                <a:solidFill>
                  <a:srgbClr val="E9F4F2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9F4F2"/>
                </a:solidFill>
                <a:latin typeface="Consolas"/>
                <a:ea typeface="Consolas"/>
                <a:cs typeface="Consolas"/>
              </a:rPr>
              <a:t>out_clip.write_videofile(output, audio=False)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BF4FA742-888A-46C9-A252-7C7398497CAE}"/>
              </a:ext>
            </a:extLst>
          </p:cNvPr>
          <p:cNvSpPr>
            <a:spLocks noGrp="1"/>
          </p:cNvSpPr>
          <p:nvPr/>
        </p:nvSpPr>
        <p:spPr>
          <a:xfrm>
            <a:off x="8572500" y="2143125"/>
            <a:ext cx="2333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875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代码走读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CE286CE0-B590-47EC-BA9F-788D9B87C25C}"/>
              </a:ext>
            </a:extLst>
          </p:cNvPr>
          <p:cNvSpPr>
            <a:spLocks noGrp="1"/>
          </p:cNvSpPr>
          <p:nvPr/>
        </p:nvSpPr>
        <p:spPr>
          <a:xfrm>
            <a:off x="8572500" y="2714625"/>
            <a:ext cx="247650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1  输入从哪里来</a:t>
            </a:r>
          </a:p>
          <a:p>
            <a:endParaRPr sz="1650" b="1">
              <a:solidFill>
                <a:srgbClr val="17232B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2  数据类型是什么</a:t>
            </a:r>
          </a:p>
          <a:p>
            <a:endParaRPr sz="1650" b="1">
              <a:solidFill>
                <a:srgbClr val="17232B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3  哪些参数可调</a:t>
            </a:r>
          </a:p>
          <a:p>
            <a:endParaRPr sz="1650" b="1">
              <a:solidFill>
                <a:srgbClr val="17232B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4  失败时如何处理</a:t>
            </a:r>
          </a:p>
        </p:txBody>
      </p:sp>
    </p:spTree>
    <p:extLst>
      <p:ext uri="{BB962C8B-B14F-4D97-AF65-F5344CB8AC3E}">
        <p14:creationId xmlns:p14="http://schemas.microsoft.com/office/powerpoint/2010/main" val="1913653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">
            <a:extLst>
              <a:ext uri="{FF2B5EF4-FFF2-40B4-BE49-F238E27FC236}">
                <a16:creationId xmlns:a16="http://schemas.microsoft.com/office/drawing/2014/main" id="{0D193AC3-177D-477E-9573-3D262777F76C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项目 8  /  车道线检测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1D188A34-BED6-4C88-BCCA-D263DA317E37}"/>
              </a:ext>
            </a:extLst>
          </p:cNvPr>
          <p:cNvSpPr>
            <a:spLocks noGrp="1"/>
          </p:cNvSpPr>
          <p:nvPr/>
        </p:nvSpPr>
        <p:spPr>
          <a:xfrm>
            <a:off x="571500" y="6286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调试从现象出发，用证据缩小范围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CBA6AA6-49B9-46DE-B14D-E0DE0B2E6F4C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049000" cy="19050"/>
          </a:xfrm>
          <a:prstGeom prst="rect">
            <a:avLst/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D25F9A08-BBC9-4709-80AE-F8E5FC53794F}"/>
              </a:ext>
            </a:extLst>
          </p:cNvPr>
          <p:cNvSpPr>
            <a:spLocks noGrp="1"/>
          </p:cNvSpPr>
          <p:nvPr/>
        </p:nvSpPr>
        <p:spPr>
          <a:xfrm>
            <a:off x="11115675" y="64008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 fontScale="89744" lnSpcReduction="10000"/>
          </a:bodyPr>
          <a:lstStyle/>
          <a:p>
            <a:pPr algn="r">
              <a:def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166354D5-A853-4740-BE0D-9ED8B7EDE21B}"/>
              </a:ext>
            </a:extLst>
          </p:cNvPr>
          <p:cNvSpPr>
            <a:spLocks noGrp="1"/>
          </p:cNvSpPr>
          <p:nvPr/>
        </p:nvSpPr>
        <p:spPr>
          <a:xfrm>
            <a:off x="609600" y="2038350"/>
            <a:ext cx="4543425" cy="325755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9525">
            <a:solidFill>
              <a:srgbClr val="C7D2D1"/>
            </a:solidFill>
            <a:prstDash val="solid"/>
          </a:ln>
        </p:spPr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6750" y="2802617"/>
            <a:ext cx="4429125" cy="1729017"/>
          </a:xfrm>
          <a:prstGeom prst="roundRect">
            <a:avLst>
              <a:gd name="adj" fmla="val 1212"/>
            </a:avLst>
          </a:prstGeom>
        </p:spPr>
      </p:pic>
      <p:sp>
        <p:nvSpPr>
          <p:cNvPr id="7" name="text">
            <a:extLst>
              <a:ext uri="{FF2B5EF4-FFF2-40B4-BE49-F238E27FC236}">
                <a16:creationId xmlns:a16="http://schemas.microsoft.com/office/drawing/2014/main" id="{7025D357-37B0-49E8-9669-C6219DC50FC8}"/>
              </a:ext>
            </a:extLst>
          </p:cNvPr>
          <p:cNvSpPr>
            <a:spLocks noGrp="1"/>
          </p:cNvSpPr>
          <p:nvPr/>
        </p:nvSpPr>
        <p:spPr>
          <a:xfrm>
            <a:off x="5667375" y="2028825"/>
            <a:ext cx="1952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5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检测线太多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AFC2111F-CA40-417B-9DAD-FC45D77012B4}"/>
              </a:ext>
            </a:extLst>
          </p:cNvPr>
          <p:cNvSpPr>
            <a:spLocks noGrp="1"/>
          </p:cNvSpPr>
          <p:nvPr/>
        </p:nvSpPr>
        <p:spPr>
          <a:xfrm>
            <a:off x="7667625" y="2028825"/>
            <a:ext cx="3476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4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收紧ROI并提高边缘阈值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60B6CE2-153B-4E3E-81F6-2E96AF547FAF}"/>
              </a:ext>
            </a:extLst>
          </p:cNvPr>
          <p:cNvSpPr>
            <a:spLocks noGrp="1"/>
          </p:cNvSpPr>
          <p:nvPr/>
        </p:nvSpPr>
        <p:spPr>
          <a:xfrm>
            <a:off x="5667375" y="2657475"/>
            <a:ext cx="5476875" cy="9525"/>
          </a:xfrm>
          <a:prstGeom prst="rect">
            <a:avLst/>
          </a:prstGeom>
          <a:solidFill>
            <a:srgbClr val="C7D2D1"/>
          </a:solidFill>
          <a:ln w="0">
            <a:noFill/>
            <a:prstDash val="solid"/>
          </a:ln>
        </p:spPr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C7AC7B78-8ED9-4B08-8699-397110F29AE0}"/>
              </a:ext>
            </a:extLst>
          </p:cNvPr>
          <p:cNvSpPr>
            <a:spLocks noGrp="1"/>
          </p:cNvSpPr>
          <p:nvPr/>
        </p:nvSpPr>
        <p:spPr>
          <a:xfrm>
            <a:off x="5667375" y="2943225"/>
            <a:ext cx="1952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5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车道线断裂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EFCFB5B2-76E2-41D0-B88F-58B949509FD2}"/>
              </a:ext>
            </a:extLst>
          </p:cNvPr>
          <p:cNvSpPr>
            <a:spLocks noGrp="1"/>
          </p:cNvSpPr>
          <p:nvPr/>
        </p:nvSpPr>
        <p:spPr>
          <a:xfrm>
            <a:off x="7667625" y="2943225"/>
            <a:ext cx="3476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4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调整Hough最小长度与间隔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0D16B7A-94F7-4EE3-AE98-B0264D3575A0}"/>
              </a:ext>
            </a:extLst>
          </p:cNvPr>
          <p:cNvSpPr>
            <a:spLocks noGrp="1"/>
          </p:cNvSpPr>
          <p:nvPr/>
        </p:nvSpPr>
        <p:spPr>
          <a:xfrm>
            <a:off x="5667375" y="3571875"/>
            <a:ext cx="5476875" cy="9525"/>
          </a:xfrm>
          <a:prstGeom prst="rect">
            <a:avLst/>
          </a:prstGeom>
          <a:solidFill>
            <a:srgbClr val="C7D2D1"/>
          </a:solidFill>
          <a:ln w="0">
            <a:noFill/>
            <a:prstDash val="solid"/>
          </a:ln>
        </p:spPr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A22620CD-3BE2-4E52-97D2-415B55E57C2D}"/>
              </a:ext>
            </a:extLst>
          </p:cNvPr>
          <p:cNvSpPr>
            <a:spLocks noGrp="1"/>
          </p:cNvSpPr>
          <p:nvPr/>
        </p:nvSpPr>
        <p:spPr>
          <a:xfrm>
            <a:off x="5667375" y="3857625"/>
            <a:ext cx="1952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5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左右线混淆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6D782111-4A1B-4321-A862-FC08208BC2BF}"/>
              </a:ext>
            </a:extLst>
          </p:cNvPr>
          <p:cNvSpPr>
            <a:spLocks noGrp="1"/>
          </p:cNvSpPr>
          <p:nvPr/>
        </p:nvSpPr>
        <p:spPr>
          <a:xfrm>
            <a:off x="7667625" y="3857625"/>
            <a:ext cx="3476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4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按斜率正负和位置分组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9EEEFA9-8368-40FD-B29A-EC892CF31E0F}"/>
              </a:ext>
            </a:extLst>
          </p:cNvPr>
          <p:cNvSpPr>
            <a:spLocks noGrp="1"/>
          </p:cNvSpPr>
          <p:nvPr/>
        </p:nvSpPr>
        <p:spPr>
          <a:xfrm>
            <a:off x="5667375" y="4486275"/>
            <a:ext cx="5476875" cy="9525"/>
          </a:xfrm>
          <a:prstGeom prst="rect">
            <a:avLst/>
          </a:prstGeom>
          <a:solidFill>
            <a:srgbClr val="C7D2D1"/>
          </a:solidFill>
          <a:ln w="0">
            <a:noFill/>
            <a:prstDash val="solid"/>
          </a:ln>
        </p:spPr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E80207CD-B88F-44B5-8684-5476A8439C38}"/>
              </a:ext>
            </a:extLst>
          </p:cNvPr>
          <p:cNvSpPr>
            <a:spLocks noGrp="1"/>
          </p:cNvSpPr>
          <p:nvPr/>
        </p:nvSpPr>
        <p:spPr>
          <a:xfrm>
            <a:off x="5667375" y="4772025"/>
            <a:ext cx="1952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50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rPr>
              <a:t>视频抖动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12363899-6E6F-4A7F-BA7E-16DEAD91936E}"/>
              </a:ext>
            </a:extLst>
          </p:cNvPr>
          <p:cNvSpPr>
            <a:spLocks noGrp="1"/>
          </p:cNvSpPr>
          <p:nvPr/>
        </p:nvSpPr>
        <p:spPr>
          <a:xfrm>
            <a:off x="7667625" y="4772025"/>
            <a:ext cx="3476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4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对拟合参数做滑动平均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2979B21-9170-43C1-94C2-43B14683F01C}"/>
              </a:ext>
            </a:extLst>
          </p:cNvPr>
          <p:cNvSpPr>
            <a:spLocks noGrp="1"/>
          </p:cNvSpPr>
          <p:nvPr/>
        </p:nvSpPr>
        <p:spPr>
          <a:xfrm>
            <a:off x="5667375" y="5400675"/>
            <a:ext cx="5476875" cy="9525"/>
          </a:xfrm>
          <a:prstGeom prst="rect">
            <a:avLst/>
          </a:prstGeom>
          <a:solidFill>
            <a:srgbClr val="C7D2D1"/>
          </a:solidFill>
          <a:ln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707807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">
            <a:extLst>
              <a:ext uri="{FF2B5EF4-FFF2-40B4-BE49-F238E27FC236}">
                <a16:creationId xmlns:a16="http://schemas.microsoft.com/office/drawing/2014/main" id="{FB709101-CCF4-4783-80E0-7F58CF693F1A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项目 8  /  车道线检测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7B205279-2C10-47ED-B5AD-8C95306788E8}"/>
              </a:ext>
            </a:extLst>
          </p:cNvPr>
          <p:cNvSpPr>
            <a:spLocks noGrp="1"/>
          </p:cNvSpPr>
          <p:nvPr/>
        </p:nvSpPr>
        <p:spPr>
          <a:xfrm>
            <a:off x="571500" y="6286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验收看证据，不只看“能运行”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A501A3C4-3D15-4770-8646-1BE047A2F92F}"/>
              </a:ext>
            </a:extLst>
          </p:cNvPr>
          <p:cNvSpPr>
            <a:spLocks noGrp="1"/>
          </p:cNvSpPr>
          <p:nvPr/>
        </p:nvSpPr>
        <p:spPr>
          <a:xfrm>
            <a:off x="590550" y="1247775"/>
            <a:ext cx="1047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小组展示时按四项逐一核验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FF8C5DB-8332-4214-919D-863ABF40E0A5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049000" cy="19050"/>
          </a:xfrm>
          <a:prstGeom prst="rect">
            <a:avLst/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AECC5347-8C35-444C-89D8-7F7C13A91245}"/>
              </a:ext>
            </a:extLst>
          </p:cNvPr>
          <p:cNvSpPr>
            <a:spLocks noGrp="1"/>
          </p:cNvSpPr>
          <p:nvPr/>
        </p:nvSpPr>
        <p:spPr>
          <a:xfrm>
            <a:off x="11115675" y="64008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 fontScale="89744" lnSpcReduction="10000"/>
          </a:bodyPr>
          <a:lstStyle/>
          <a:p>
            <a:pPr algn="r">
              <a:def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6792352E-E1E7-48F2-92B5-831AC07F7576}"/>
              </a:ext>
            </a:extLst>
          </p:cNvPr>
          <p:cNvSpPr>
            <a:spLocks noGrp="1"/>
          </p:cNvSpPr>
          <p:nvPr/>
        </p:nvSpPr>
        <p:spPr>
          <a:xfrm>
            <a:off x="714375" y="2095500"/>
            <a:ext cx="4762500" cy="1285875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7D2D1"/>
            </a:solidFill>
            <a:prstDash val="solid"/>
          </a:ln>
        </p:spPr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149B6EBD-4139-4B9A-83CF-2D6C14F4FC7C}"/>
              </a:ext>
            </a:extLst>
          </p:cNvPr>
          <p:cNvSpPr>
            <a:spLocks noGrp="1"/>
          </p:cNvSpPr>
          <p:nvPr/>
        </p:nvSpPr>
        <p:spPr>
          <a:xfrm>
            <a:off x="942975" y="2324100"/>
            <a:ext cx="666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25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59C73C13-B097-49C1-A5EB-2C691565BCBA}"/>
              </a:ext>
            </a:extLst>
          </p:cNvPr>
          <p:cNvSpPr>
            <a:spLocks noGrp="1"/>
          </p:cNvSpPr>
          <p:nvPr/>
        </p:nvSpPr>
        <p:spPr>
          <a:xfrm>
            <a:off x="1714500" y="2324100"/>
            <a:ext cx="3333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7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图片中左右车道清晰覆盖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D6294AFC-0D83-43A3-BF21-DE6106ECA433}"/>
              </a:ext>
            </a:extLst>
          </p:cNvPr>
          <p:cNvSpPr>
            <a:spLocks noGrp="1"/>
          </p:cNvSpPr>
          <p:nvPr/>
        </p:nvSpPr>
        <p:spPr>
          <a:xfrm>
            <a:off x="6238875" y="2095500"/>
            <a:ext cx="4762500" cy="1285875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7D2D1"/>
            </a:solidFill>
            <a:prstDash val="solid"/>
          </a:ln>
        </p:spPr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356AF4D0-CDCF-4240-B58C-2BD73CD39B20}"/>
              </a:ext>
            </a:extLst>
          </p:cNvPr>
          <p:cNvSpPr>
            <a:spLocks noGrp="1"/>
          </p:cNvSpPr>
          <p:nvPr/>
        </p:nvSpPr>
        <p:spPr>
          <a:xfrm>
            <a:off x="6467475" y="2324100"/>
            <a:ext cx="666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25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F27C5413-E30C-4126-8D26-71C575577AF4}"/>
              </a:ext>
            </a:extLst>
          </p:cNvPr>
          <p:cNvSpPr>
            <a:spLocks noGrp="1"/>
          </p:cNvSpPr>
          <p:nvPr/>
        </p:nvSpPr>
        <p:spPr>
          <a:xfrm>
            <a:off x="7239000" y="2324100"/>
            <a:ext cx="3333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7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无关边缘显著减少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AD477B5-7FD0-41CA-B0A7-6912FB259AB9}"/>
              </a:ext>
            </a:extLst>
          </p:cNvPr>
          <p:cNvSpPr>
            <a:spLocks noGrp="1"/>
          </p:cNvSpPr>
          <p:nvPr/>
        </p:nvSpPr>
        <p:spPr>
          <a:xfrm>
            <a:off x="714375" y="3905250"/>
            <a:ext cx="4762500" cy="1285875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7D2D1"/>
            </a:solidFill>
            <a:prstDash val="solid"/>
          </a:ln>
        </p:spPr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4305CBEB-DEB9-467F-8B6E-F4437C7B2317}"/>
              </a:ext>
            </a:extLst>
          </p:cNvPr>
          <p:cNvSpPr>
            <a:spLocks noGrp="1"/>
          </p:cNvSpPr>
          <p:nvPr/>
        </p:nvSpPr>
        <p:spPr>
          <a:xfrm>
            <a:off x="942975" y="4133850"/>
            <a:ext cx="666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25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FD97470B-EDAE-4CDC-AF2D-BE15CBBE983D}"/>
              </a:ext>
            </a:extLst>
          </p:cNvPr>
          <p:cNvSpPr>
            <a:spLocks noGrp="1"/>
          </p:cNvSpPr>
          <p:nvPr/>
        </p:nvSpPr>
        <p:spPr>
          <a:xfrm>
            <a:off x="1714500" y="4133850"/>
            <a:ext cx="3333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7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视频输出可连续播放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EB894CED-9E3A-4AC4-A13A-C37C3B4D9851}"/>
              </a:ext>
            </a:extLst>
          </p:cNvPr>
          <p:cNvSpPr>
            <a:spLocks noGrp="1"/>
          </p:cNvSpPr>
          <p:nvPr/>
        </p:nvSpPr>
        <p:spPr>
          <a:xfrm>
            <a:off x="6238875" y="3905250"/>
            <a:ext cx="4762500" cy="1285875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7D2D1"/>
            </a:solidFill>
            <a:prstDash val="solid"/>
          </a:ln>
        </p:spPr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E32B8322-332C-42B3-B63E-5317E7C8BDF2}"/>
              </a:ext>
            </a:extLst>
          </p:cNvPr>
          <p:cNvSpPr>
            <a:spLocks noGrp="1"/>
          </p:cNvSpPr>
          <p:nvPr/>
        </p:nvSpPr>
        <p:spPr>
          <a:xfrm>
            <a:off x="6467475" y="4133850"/>
            <a:ext cx="666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25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D712C4E9-3DE6-406F-BCEA-7229DDC38495}"/>
              </a:ext>
            </a:extLst>
          </p:cNvPr>
          <p:cNvSpPr>
            <a:spLocks noGrp="1"/>
          </p:cNvSpPr>
          <p:nvPr/>
        </p:nvSpPr>
        <p:spPr>
          <a:xfrm>
            <a:off x="7239000" y="4133850"/>
            <a:ext cx="3333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7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参数与失败案例有记录</a:t>
            </a:r>
          </a:p>
        </p:txBody>
      </p:sp>
    </p:spTree>
    <p:extLst>
      <p:ext uri="{BB962C8B-B14F-4D97-AF65-F5344CB8AC3E}">
        <p14:creationId xmlns:p14="http://schemas.microsoft.com/office/powerpoint/2010/main" val="7141307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">
            <a:extLst>
              <a:ext uri="{FF2B5EF4-FFF2-40B4-BE49-F238E27FC236}">
                <a16:creationId xmlns:a16="http://schemas.microsoft.com/office/drawing/2014/main" id="{AD88EF6A-3A09-4269-88B5-A2DBB01C3E3C}"/>
              </a:ext>
            </a:extLst>
          </p:cNvPr>
          <p:cNvSpPr>
            <a:spLocks noGrp="1"/>
          </p:cNvSpPr>
          <p:nvPr/>
        </p:nvSpPr>
        <p:spPr>
          <a:xfrm>
            <a:off x="666750" y="619125"/>
            <a:ext cx="428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575" b="1">
                <a:solidFill>
                  <a:srgbClr val="20A3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0A39A"/>
                </a:solidFill>
                <a:latin typeface="Microsoft YaHei"/>
                <a:ea typeface="Microsoft YaHei"/>
                <a:cs typeface="Microsoft YaHei"/>
              </a:rPr>
              <a:t>项目 8 复盘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C357EE4B-F57C-4533-95D1-D6222BFB306D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93345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经典视觉方法的优势是可解释，局限是对光照、阴影和曲线道路较敏感。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0F3EB93-6260-40C1-9106-97F21FC183D7}"/>
              </a:ext>
            </a:extLst>
          </p:cNvPr>
          <p:cNvSpPr>
            <a:spLocks noGrp="1"/>
          </p:cNvSpPr>
          <p:nvPr/>
        </p:nvSpPr>
        <p:spPr>
          <a:xfrm>
            <a:off x="666750" y="4048125"/>
            <a:ext cx="10096500" cy="19050"/>
          </a:xfrm>
          <a:prstGeom prst="rect">
            <a:avLst/>
          </a:prstGeom>
          <a:solidFill>
            <a:srgbClr val="F28C45"/>
          </a:solidFill>
          <a:ln w="0">
            <a:noFill/>
            <a:prstDash val="solid"/>
          </a:ln>
        </p:spPr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3B44F04F-8FF0-4AC1-A540-9F7B4938D774}"/>
              </a:ext>
            </a:extLst>
          </p:cNvPr>
          <p:cNvSpPr>
            <a:spLocks noGrp="1"/>
          </p:cNvSpPr>
          <p:nvPr/>
        </p:nvSpPr>
        <p:spPr>
          <a:xfrm>
            <a:off x="666750" y="4476750"/>
            <a:ext cx="1809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65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rPr>
              <a:t>离堂问题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DB5EDF51-8BD7-4B6E-A224-A243179BC718}"/>
              </a:ext>
            </a:extLst>
          </p:cNvPr>
          <p:cNvSpPr>
            <a:spLocks noGrp="1"/>
          </p:cNvSpPr>
          <p:nvPr/>
        </p:nvSpPr>
        <p:spPr>
          <a:xfrm>
            <a:off x="666750" y="5000625"/>
            <a:ext cx="92392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025" b="0">
                <a:solidFill>
                  <a:srgbClr val="D9E4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D9E4E3"/>
                </a:solidFill>
                <a:latin typeface="Microsoft YaHei"/>
                <a:ea typeface="Microsoft YaHei"/>
                <a:cs typeface="Microsoft YaHei"/>
              </a:rPr>
              <a:t>本项目中，哪一个参数或接口最影响系统可靠性？你用什么证据验证？</a:t>
            </a:r>
          </a:p>
        </p:txBody>
      </p:sp>
    </p:spTree>
    <p:extLst>
      <p:ext uri="{BB962C8B-B14F-4D97-AF65-F5344CB8AC3E}">
        <p14:creationId xmlns:p14="http://schemas.microsoft.com/office/powerpoint/2010/main" val="9168868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541</Words>
  <Application>Microsoft Office PowerPoint</Application>
  <DocSecurity>0</DocSecurity>
  <PresentationFormat>宽屏</PresentationFormat>
  <Paragraphs>172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5" baseType="lpstr">
      <vt:lpstr>Microsoft YaHei</vt:lpstr>
      <vt:lpstr>Calibri</vt:lpstr>
      <vt:lpstr>Consolas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summer</cp:lastModifiedBy>
  <cp:revision>1</cp:revision>
  <dcterms:created xsi:type="dcterms:W3CDTF">2026-08-12T10:27:05Z</dcterms:created>
  <dcterms:modified xsi:type="dcterms:W3CDTF">2026-08-25T09:17:34Z</dcterms:modified>
</cp:coreProperties>
</file>