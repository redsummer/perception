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开场先呈现项目问题，请学生说出完成任务所需的软硬件与数据链路。不要立即给出完整答案。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本课程《实验1》实验指导书（工作区附件）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用三项学习结果说明本节课的验收边界。强调结果必须可演示、可截图、可复现。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本课程《实验1》实验指导书（工作区附件）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让学生先口头描述数据从哪里产生、经过什么处理、最终驱动什么结果。调试时按箭头方向逐级排查。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本课程《实验1》实验指导书（工作区附件）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按四个概念建立理论框架。每讲完一点，都要求学生指出它在系统链路中的位置。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本课程《实验1》实验指导书（工作区附件）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板书关键公式或参数口径。让学生先预测参数变化带来的现象，再在实验中验证。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本课程《实验1》实验指导书（工作区附件）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结合实验指导书截图讲清接口或配置。硬件项目需展示嘉立创EDA原理图，并让小组互查网络名与供电。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本课程《实验1》实验指导书（工作区附件）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现场操作按五步推进。每一步结束后短暂停顿，检查全班完成率，再进入下一步。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本课程《实验1》实验指导书（工作区附件）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不要逐行念代码。沿输入、处理、输出、异常四条线讲解，并让学生指出最需要调试的参数。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本课程《实验1》实验指导书（工作区附件）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先请学生描述现象，再提出一条可验证假设。强调每次只改一个变量，改动前后都保留证据。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本课程《实验1》实验指导书（工作区附件）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组织两分钟小组验收：一人操作，一人解释数据链路，一人出示证据，一人记录改进项。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本课程《实验1》实验指导书（工作区附件）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收束本项目。让每位学生用一句话提交“最关键参数或接口 + 验证证据”，作为形成性评价。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本课程《实验1》实验指导书（工作区附件）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>
            <a:extLst>
              <a:ext uri="{FF2B5EF4-FFF2-40B4-BE49-F238E27FC236}">
                <a16:creationId xmlns:a16="http://schemas.microsoft.com/office/drawing/2014/main" id="{9293FEA2-589E-4A58-919B-9E7A12461D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781" y="123092"/>
            <a:ext cx="2571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4E1BD73-9EEA-4440-A935-79AC5B60C0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543E5F1-1298-4A61-9760-F7D2C7B67A6D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《无人驾驶环境感知技术》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F28890E-FA18-45C9-B786-3F0415F6BD0C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项目 1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B890798-BB4D-4016-A539-A4D9BBA75845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80486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VM虚拟机、Ubuntu与ROS环境搭建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2A9B932-73DF-41BB-BAF1-FC07A51E5C11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7524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如何把一台Windows电脑变成可重复、可验证的ROS开发环境？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523765-8FF7-46A7-960F-73C436C40DFD}"/>
              </a:ext>
            </a:extLst>
          </p:cNvPr>
          <p:cNvSpPr>
            <a:spLocks noGrp="1"/>
          </p:cNvSpPr>
          <p:nvPr/>
        </p:nvSpPr>
        <p:spPr>
          <a:xfrm>
            <a:off x="9429750" y="19050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70FA32F-F3F7-4E66-8AF7-6E205CC87DF4}"/>
              </a:ext>
            </a:extLst>
          </p:cNvPr>
          <p:cNvSpPr>
            <a:spLocks noGrp="1"/>
          </p:cNvSpPr>
          <p:nvPr/>
        </p:nvSpPr>
        <p:spPr>
          <a:xfrm>
            <a:off x="9429750" y="20383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198A06-39FF-480E-BDE9-294D5E6629A3}"/>
              </a:ext>
            </a:extLst>
          </p:cNvPr>
          <p:cNvSpPr>
            <a:spLocks noGrp="1"/>
          </p:cNvSpPr>
          <p:nvPr/>
        </p:nvSpPr>
        <p:spPr>
          <a:xfrm>
            <a:off x="10086975" y="262890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2E2B19D-E747-43B5-811D-204E245AAE52}"/>
              </a:ext>
            </a:extLst>
          </p:cNvPr>
          <p:cNvSpPr>
            <a:spLocks noGrp="1"/>
          </p:cNvSpPr>
          <p:nvPr/>
        </p:nvSpPr>
        <p:spPr>
          <a:xfrm>
            <a:off x="9429750" y="314325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E67F2BA-C8DE-48C2-9F1A-F07A7C10BD82}"/>
              </a:ext>
            </a:extLst>
          </p:cNvPr>
          <p:cNvSpPr>
            <a:spLocks noGrp="1"/>
          </p:cNvSpPr>
          <p:nvPr/>
        </p:nvSpPr>
        <p:spPr>
          <a:xfrm>
            <a:off x="9429750" y="327660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819C32-F750-4A6F-BE92-D896CE5A631A}"/>
              </a:ext>
            </a:extLst>
          </p:cNvPr>
          <p:cNvSpPr>
            <a:spLocks noGrp="1"/>
          </p:cNvSpPr>
          <p:nvPr/>
        </p:nvSpPr>
        <p:spPr>
          <a:xfrm>
            <a:off x="10086975" y="386715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35B3CDB-2877-4C0B-9682-31865A3763FF}"/>
              </a:ext>
            </a:extLst>
          </p:cNvPr>
          <p:cNvSpPr>
            <a:spLocks noGrp="1"/>
          </p:cNvSpPr>
          <p:nvPr/>
        </p:nvSpPr>
        <p:spPr>
          <a:xfrm>
            <a:off x="9429750" y="43815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C33739DA-A221-464E-A32C-2AB4BEB15C4C}"/>
              </a:ext>
            </a:extLst>
          </p:cNvPr>
          <p:cNvSpPr>
            <a:spLocks noGrp="1"/>
          </p:cNvSpPr>
          <p:nvPr/>
        </p:nvSpPr>
        <p:spPr>
          <a:xfrm>
            <a:off x="9429750" y="45148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F35F37D-3543-4816-9CF5-45226524CED9}"/>
              </a:ext>
            </a:extLst>
          </p:cNvPr>
          <p:cNvSpPr>
            <a:spLocks noGrp="1"/>
          </p:cNvSpPr>
          <p:nvPr/>
        </p:nvSpPr>
        <p:spPr>
          <a:xfrm>
            <a:off x="657225" y="60483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93750"/>
          </a:bodyPr>
          <a:lstStyle/>
          <a:p>
            <a:pPr algn="l">
              <a:def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rPr>
              <a:t>项目导向课堂课件</a:t>
            </a:r>
          </a:p>
        </p:txBody>
      </p:sp>
    </p:spTree>
    <p:extLst>
      <p:ext uri="{BB962C8B-B14F-4D97-AF65-F5344CB8AC3E}">
        <p14:creationId xmlns:p14="http://schemas.microsoft.com/office/powerpoint/2010/main" val="2051572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>
            <a:extLst>
              <a:ext uri="{FF2B5EF4-FFF2-40B4-BE49-F238E27FC236}">
                <a16:creationId xmlns:a16="http://schemas.microsoft.com/office/drawing/2014/main" id="{3876ACED-08E4-4459-87AD-A35D131141DA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1  /  环境搭建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39D905A-0A70-4B34-9CF3-1BCB618EBD58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本项目要交付一个可验证的系统结果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6DD8AD8-9524-4A93-96E0-DF512895D992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如何把一台Windows电脑变成可重复、可验证的ROS开发环境？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CB137C-91F9-4DDE-A8B0-1CE51B13C2FD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3CD4063-55FC-4CB1-B67F-FE71B15AE2D4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A1E454A-66B2-42D2-9DA0-CB8004F2A07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9B6FB1D-D943-4DA7-8F3E-FD90DB4D03D0}"/>
              </a:ext>
            </a:extLst>
          </p:cNvPr>
          <p:cNvSpPr>
            <a:spLocks noGrp="1"/>
          </p:cNvSpPr>
          <p:nvPr/>
        </p:nvSpPr>
        <p:spPr>
          <a:xfrm>
            <a:off x="1714500" y="21240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解释虚拟机、Ubuntu与ROS的分层关系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CE9861-9267-4F90-8B22-EB91EF4448C2}"/>
              </a:ext>
            </a:extLst>
          </p:cNvPr>
          <p:cNvSpPr>
            <a:spLocks noGrp="1"/>
          </p:cNvSpPr>
          <p:nvPr/>
        </p:nvSpPr>
        <p:spPr>
          <a:xfrm>
            <a:off x="1714500" y="28384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EF59BC9-BEE8-4DAD-A68E-B19C27EB9056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F44B33D-83A5-48D6-BA7A-A1CD0886F2B3}"/>
              </a:ext>
            </a:extLst>
          </p:cNvPr>
          <p:cNvSpPr>
            <a:spLocks noGrp="1"/>
          </p:cNvSpPr>
          <p:nvPr/>
        </p:nvSpPr>
        <p:spPr>
          <a:xfrm>
            <a:off x="1714500" y="33432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完成Ubuntu 20.04与ROS Noetic安装配置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1BBD27-75B3-4F93-8740-8EDB455AED45}"/>
              </a:ext>
            </a:extLst>
          </p:cNvPr>
          <p:cNvSpPr>
            <a:spLocks noGrp="1"/>
          </p:cNvSpPr>
          <p:nvPr/>
        </p:nvSpPr>
        <p:spPr>
          <a:xfrm>
            <a:off x="1714500" y="40576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2E1B80DD-7235-4BAA-A69A-C081D0AFFDD9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435828F8-E693-44EA-881A-701C1CA0B050}"/>
              </a:ext>
            </a:extLst>
          </p:cNvPr>
          <p:cNvSpPr>
            <a:spLocks noGrp="1"/>
          </p:cNvSpPr>
          <p:nvPr/>
        </p:nvSpPr>
        <p:spPr>
          <a:xfrm>
            <a:off x="1714500" y="45624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用turtlesim和Hello World完成环境验收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62BBE3-9A92-4F00-BDDE-FFFE7696EE0A}"/>
              </a:ext>
            </a:extLst>
          </p:cNvPr>
          <p:cNvSpPr>
            <a:spLocks noGrp="1"/>
          </p:cNvSpPr>
          <p:nvPr/>
        </p:nvSpPr>
        <p:spPr>
          <a:xfrm>
            <a:off x="1714500" y="52768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C0B6BAD-7D5C-4CAE-880A-1D83B706C693}"/>
              </a:ext>
            </a:extLst>
          </p:cNvPr>
          <p:cNvSpPr>
            <a:spLocks noGrp="1"/>
          </p:cNvSpPr>
          <p:nvPr/>
        </p:nvSpPr>
        <p:spPr>
          <a:xfrm>
            <a:off x="9763125" y="21526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71C4E2EE-84BA-4155-95D0-4A5C66087EE9}"/>
              </a:ext>
            </a:extLst>
          </p:cNvPr>
          <p:cNvSpPr>
            <a:spLocks noGrp="1"/>
          </p:cNvSpPr>
          <p:nvPr/>
        </p:nvSpPr>
        <p:spPr>
          <a:xfrm>
            <a:off x="9763125" y="2628900"/>
            <a:ext cx="1238250" cy="21145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原理解释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操作记录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</p:spTree>
    <p:extLst>
      <p:ext uri="{BB962C8B-B14F-4D97-AF65-F5344CB8AC3E}">
        <p14:creationId xmlns:p14="http://schemas.microsoft.com/office/powerpoint/2010/main" val="1932169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6B28DF1B-D407-4FD0-BB55-61E62E155DED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1  /  环境搭建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E341A40-F281-4FC1-AE3E-752AD2291A6C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先看系统全链路，再进入局部操作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7895AD4-D9F2-43F0-AE92-5D4225187E32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每个方框都对应一个可单独验证的子任务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867B13-FA96-4254-9B87-42B7FA536285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044FAB8-9E95-4740-88C3-A6244AFB487C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4947445-E1E7-4C71-BA64-A7DF2E6B6BA2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E62C34B-95E3-4B3A-A409-8BB446311759}"/>
              </a:ext>
            </a:extLst>
          </p:cNvPr>
          <p:cNvSpPr>
            <a:spLocks noGrp="1"/>
          </p:cNvSpPr>
          <p:nvPr/>
        </p:nvSpPr>
        <p:spPr>
          <a:xfrm>
            <a:off x="3509963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E2B473C-B406-4F49-8DCD-20EEDE7C0163}"/>
              </a:ext>
            </a:extLst>
          </p:cNvPr>
          <p:cNvSpPr>
            <a:spLocks noGrp="1"/>
          </p:cNvSpPr>
          <p:nvPr/>
        </p:nvSpPr>
        <p:spPr>
          <a:xfrm>
            <a:off x="6257925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DE98294-02F5-450C-ABCE-BD78FD56B625}"/>
              </a:ext>
            </a:extLst>
          </p:cNvPr>
          <p:cNvSpPr>
            <a:spLocks noGrp="1"/>
          </p:cNvSpPr>
          <p:nvPr/>
        </p:nvSpPr>
        <p:spPr>
          <a:xfrm>
            <a:off x="9005888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cxnSp>
        <p:nvCxnSpPr>
          <p:cNvPr id="27" name="直接箭头连接符 26"/>
          <p:cNvCxnSpPr>
            <a:stCxn id="6" idx="3"/>
            <a:endCxn id="7" idx="1"/>
          </p:cNvCxnSpPr>
          <p:nvPr/>
        </p:nvCxnSpPr>
        <p:spPr>
          <a:xfrm>
            <a:off x="3186113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8" name="直接箭头连接符 27"/>
          <p:cNvCxnSpPr>
            <a:stCxn id="7" idx="3"/>
            <a:endCxn id="8" idx="1"/>
          </p:cNvCxnSpPr>
          <p:nvPr/>
        </p:nvCxnSpPr>
        <p:spPr>
          <a:xfrm>
            <a:off x="5934076" y="3267075"/>
            <a:ext cx="323849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9" name="直接箭头连接符 28"/>
          <p:cNvCxnSpPr>
            <a:stCxn id="8" idx="3"/>
            <a:endCxn id="9" idx="1"/>
          </p:cNvCxnSpPr>
          <p:nvPr/>
        </p:nvCxnSpPr>
        <p:spPr>
          <a:xfrm>
            <a:off x="8682038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FE9B088D-C8C2-40FF-9AA5-B1148E8A495C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Windows宿主机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42DE686-FA4A-4C6B-B623-EBEF8F7BF038}"/>
              </a:ext>
            </a:extLst>
          </p:cNvPr>
          <p:cNvSpPr>
            <a:spLocks noGrp="1"/>
          </p:cNvSpPr>
          <p:nvPr/>
        </p:nvSpPr>
        <p:spPr>
          <a:xfrm>
            <a:off x="3605213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VMware虚拟机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8889E32E-A2EE-4B94-9B4B-7F6E3BA1E08C}"/>
              </a:ext>
            </a:extLst>
          </p:cNvPr>
          <p:cNvSpPr>
            <a:spLocks noGrp="1"/>
          </p:cNvSpPr>
          <p:nvPr/>
        </p:nvSpPr>
        <p:spPr>
          <a:xfrm>
            <a:off x="6353175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Ubuntu系统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8B48ED2-6482-4DF4-910E-B874088C90F1}"/>
              </a:ext>
            </a:extLst>
          </p:cNvPr>
          <p:cNvSpPr>
            <a:spLocks noGrp="1"/>
          </p:cNvSpPr>
          <p:nvPr/>
        </p:nvSpPr>
        <p:spPr>
          <a:xfrm>
            <a:off x="9101138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ROS节点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BAE9D76-9AF4-48F1-BBA3-BC1B88162DC3}"/>
              </a:ext>
            </a:extLst>
          </p:cNvPr>
          <p:cNvSpPr>
            <a:spLocks noGrp="1"/>
          </p:cNvSpPr>
          <p:nvPr/>
        </p:nvSpPr>
        <p:spPr>
          <a:xfrm>
            <a:off x="1952625" y="49053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调试原则：从链路左侧开始逐级验证输入和输出，不要跳步。</a:t>
            </a:r>
          </a:p>
        </p:txBody>
      </p:sp>
    </p:spTree>
    <p:extLst>
      <p:ext uri="{BB962C8B-B14F-4D97-AF65-F5344CB8AC3E}">
        <p14:creationId xmlns:p14="http://schemas.microsoft.com/office/powerpoint/2010/main" val="67690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">
            <a:extLst>
              <a:ext uri="{FF2B5EF4-FFF2-40B4-BE49-F238E27FC236}">
                <a16:creationId xmlns:a16="http://schemas.microsoft.com/office/drawing/2014/main" id="{47A5A0D3-B458-448C-9C32-835EB574BF01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1  /  环境搭建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D472942-7089-4B8D-B2B0-94B50A9C3BBC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虚拟化把实验环境封装成可迁移的软件系统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D63C2C-F0BA-4F1D-BE31-F8364B69288B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622CA92-1170-41D6-949C-630195D194B4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AAD98E7-F9A8-451C-A265-ACE9ABD1206F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74EEEDE-E812-4E0E-951C-CBBEE4DBEE6F}"/>
              </a:ext>
            </a:extLst>
          </p:cNvPr>
          <p:cNvSpPr>
            <a:spLocks noGrp="1"/>
          </p:cNvSpPr>
          <p:nvPr/>
        </p:nvSpPr>
        <p:spPr>
          <a:xfrm>
            <a:off x="13906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宿主机提供CPU、内存、磁盘与网络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C47CF8F-4E8E-4DF0-B22C-C7C5DB8B5F22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8881BFF-A239-4C9B-BA19-A909B4923503}"/>
              </a:ext>
            </a:extLst>
          </p:cNvPr>
          <p:cNvSpPr>
            <a:spLocks noGrp="1"/>
          </p:cNvSpPr>
          <p:nvPr/>
        </p:nvSpPr>
        <p:spPr>
          <a:xfrm>
            <a:off x="69151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VMware创建隔离的虚拟硬件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52BAA9CC-7789-4DE6-9BC2-D5B3E3CAEA7D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C196D8D-4E42-487B-8696-F381B45872BD}"/>
              </a:ext>
            </a:extLst>
          </p:cNvPr>
          <p:cNvSpPr>
            <a:spLocks noGrp="1"/>
          </p:cNvSpPr>
          <p:nvPr/>
        </p:nvSpPr>
        <p:spPr>
          <a:xfrm>
            <a:off x="13906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Ubuntu承载编译器、Python与ROS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F0281DF-73F2-4645-8B82-E47A915E376B}"/>
              </a:ext>
            </a:extLst>
          </p:cNvPr>
          <p:cNvSpPr>
            <a:spLocks noGrp="1"/>
          </p:cNvSpPr>
          <p:nvPr/>
        </p:nvSpPr>
        <p:spPr>
          <a:xfrm>
            <a:off x="61912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F28C45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DAE6926-1C97-4A34-8400-D9F31941E45B}"/>
              </a:ext>
            </a:extLst>
          </p:cNvPr>
          <p:cNvSpPr>
            <a:spLocks noGrp="1"/>
          </p:cNvSpPr>
          <p:nvPr/>
        </p:nvSpPr>
        <p:spPr>
          <a:xfrm>
            <a:off x="69151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快照用于回滚，NAT用于联网</a:t>
            </a:r>
          </a:p>
        </p:txBody>
      </p:sp>
    </p:spTree>
    <p:extLst>
      <p:ext uri="{BB962C8B-B14F-4D97-AF65-F5344CB8AC3E}">
        <p14:creationId xmlns:p14="http://schemas.microsoft.com/office/powerpoint/2010/main" val="1389987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82E7F047-B0EF-47CF-877F-35DFE5432317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1  /  环境搭建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51C90F3-0811-4FF0-90BE-94150F722DAB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资源建议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DA68A32-73FD-4EC5-AA55-6B9BBDCD787D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把参数、公式或规则变成可测量的工程判断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75B33E-9176-48E7-A1C2-FFD22AFD42C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71A870A-E4C0-4A33-8D14-ECCE563592E4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0CA34B8-AC54-4B9B-B9ED-65CCB850FEDD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00" cy="3190875"/>
          </a:xfrm>
          <a:prstGeom prst="roundRect">
            <a:avLst>
              <a:gd name="adj" fmla="val 1791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2CB2B98-6F48-4DDD-962C-3479772C04CD}"/>
              </a:ext>
            </a:extLst>
          </p:cNvPr>
          <p:cNvSpPr>
            <a:spLocks noGrp="1"/>
          </p:cNvSpPr>
          <p:nvPr/>
        </p:nvSpPr>
        <p:spPr>
          <a:xfrm>
            <a:off x="1066800" y="2619375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内存：宿主机可用内存的约40%至50%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46EDA70-8FEA-475E-A8D2-1FED6D16DA27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rPr>
              <a:t>CPU：不超过逻辑核心数的一半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81E5A9F-91AE-4DAD-B91F-089513AC61A8}"/>
              </a:ext>
            </a:extLst>
          </p:cNvPr>
          <p:cNvSpPr>
            <a:spLocks noGrp="1"/>
          </p:cNvSpPr>
          <p:nvPr/>
        </p:nvSpPr>
        <p:spPr>
          <a:xfrm>
            <a:off x="6000750" y="2381250"/>
            <a:ext cx="4953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磁盘：建议40 GB以上，动态扩展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92FE3E5-D57C-48BE-8A39-847666305B9A}"/>
              </a:ext>
            </a:extLst>
          </p:cNvPr>
          <p:cNvSpPr>
            <a:spLocks noGrp="1"/>
          </p:cNvSpPr>
          <p:nvPr/>
        </p:nvSpPr>
        <p:spPr>
          <a:xfrm>
            <a:off x="6000750" y="4191000"/>
            <a:ext cx="4953000" cy="1095375"/>
          </a:xfrm>
          <a:prstGeom prst="roundRect">
            <a:avLst>
              <a:gd name="adj" fmla="val 5217"/>
            </a:avLst>
          </a:prstGeom>
          <a:solidFill>
            <a:srgbClr val="F6F8F7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课堂追问</a:t>
            </a:r>
          </a:p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这个参数如果偏大或偏小，系统结果会怎样变化？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47121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">
            <a:extLst>
              <a:ext uri="{FF2B5EF4-FFF2-40B4-BE49-F238E27FC236}">
                <a16:creationId xmlns:a16="http://schemas.microsoft.com/office/drawing/2014/main" id="{CAE82087-F262-4157-BBBD-6B27CB5607CA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1  /  环境搭建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3AA5C2C-A55C-432E-9F72-CC906C4E24A2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ROS运行的最小闭环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72435B-552B-4CFB-B53C-86FB984CD1AE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C155FDD-8C7E-4B07-87FC-D91E354371FA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05CCF68-C5EF-417D-BA2C-C80B1A5FE81F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1. roscore：提供Master与参数服务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80B5B78-0EE0-45A3-AA83-F83253D341C7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2. 节点：执行计算任务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E33999F-6091-4000-B5FD-DB4F483F6DF6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3. 话题：传递消息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50D4CCB-D1A8-4344-9983-00D0D7D946DE}"/>
              </a:ext>
            </a:extLst>
          </p:cNvPr>
          <p:cNvSpPr>
            <a:spLocks noGrp="1"/>
          </p:cNvSpPr>
          <p:nvPr/>
        </p:nvSpPr>
        <p:spPr>
          <a:xfrm>
            <a:off x="666750" y="46767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4. 工具：rostopic、rqt_graph、turtlesim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132A53-4C0F-4625-87ED-30C77AF9977C}"/>
              </a:ext>
            </a:extLst>
          </p:cNvPr>
          <p:cNvSpPr>
            <a:spLocks noGrp="1"/>
          </p:cNvSpPr>
          <p:nvPr/>
        </p:nvSpPr>
        <p:spPr>
          <a:xfrm>
            <a:off x="6134100" y="1990725"/>
            <a:ext cx="5067300" cy="344805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90322" y="2047875"/>
            <a:ext cx="3754855" cy="3333750"/>
          </a:xfrm>
          <a:prstGeom prst="roundRect">
            <a:avLst>
              <a:gd name="adj" fmla="val 1143"/>
            </a:avLst>
          </a:prstGeom>
        </p:spPr>
      </p:pic>
      <p:sp>
        <p:nvSpPr>
          <p:cNvPr id="11" name="text">
            <a:extLst>
              <a:ext uri="{FF2B5EF4-FFF2-40B4-BE49-F238E27FC236}">
                <a16:creationId xmlns:a16="http://schemas.microsoft.com/office/drawing/2014/main" id="{980570BD-8E3C-40CA-BE38-68B25E363211}"/>
              </a:ext>
            </a:extLst>
          </p:cNvPr>
          <p:cNvSpPr>
            <a:spLocks noGrp="1"/>
          </p:cNvSpPr>
          <p:nvPr/>
        </p:nvSpPr>
        <p:spPr>
          <a:xfrm>
            <a:off x="6191250" y="5572125"/>
            <a:ext cx="495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建模或软件配置任务：结构清楚、命名一致、可复现</a:t>
            </a:r>
          </a:p>
        </p:txBody>
      </p:sp>
    </p:spTree>
    <p:extLst>
      <p:ext uri="{BB962C8B-B14F-4D97-AF65-F5344CB8AC3E}">
        <p14:creationId xmlns:p14="http://schemas.microsoft.com/office/powerpoint/2010/main" val="1451805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">
            <a:extLst>
              <a:ext uri="{FF2B5EF4-FFF2-40B4-BE49-F238E27FC236}">
                <a16:creationId xmlns:a16="http://schemas.microsoft.com/office/drawing/2014/main" id="{54547F53-2911-4C7D-9D4F-EE7C0F597BE3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1  /  环境搭建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7EB68C0-7BDE-4D48-B94E-0CDB40A7223D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五步完成项目主流程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C4770D7-471F-411B-91DA-01EC59F928E1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每完成一步就保留一个可追溯证据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65ECD3-ED12-4439-818E-12E48CD6B048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164EFDC-A9C7-415B-9FD0-C87AE5F5AB8E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EEED1BB-04C7-412B-9E15-009DF5F17471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C524BD1-A89E-4FEE-A00D-CD2135C01DEE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E53C879-4234-44C6-96FA-1154A83FA772}"/>
              </a:ext>
            </a:extLst>
          </p:cNvPr>
          <p:cNvSpPr>
            <a:spLocks noGrp="1"/>
          </p:cNvSpPr>
          <p:nvPr/>
        </p:nvSpPr>
        <p:spPr>
          <a:xfrm>
            <a:off x="1428750" y="19907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安装VMware并创建虚拟机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8F0CADF-DBDB-475D-B739-85A9A5A8B7F4}"/>
              </a:ext>
            </a:extLst>
          </p:cNvPr>
          <p:cNvSpPr>
            <a:spLocks noGrp="1"/>
          </p:cNvSpPr>
          <p:nvPr/>
        </p:nvSpPr>
        <p:spPr>
          <a:xfrm>
            <a:off x="10001250" y="20669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截图/原理图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2BE8EE-5349-4657-A2B4-BF30C44B5922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230FA835-1CAE-42D1-988C-201C1E327388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8544FA9-DA0E-441B-81D7-706F1275B8AF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挂载Ubuntu ISO并完成系统安装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F9733C6-1A43-4668-B069-FF4018F57AF0}"/>
              </a:ext>
            </a:extLst>
          </p:cNvPr>
          <p:cNvSpPr>
            <a:spLocks noGrp="1"/>
          </p:cNvSpPr>
          <p:nvPr/>
        </p:nvSpPr>
        <p:spPr>
          <a:xfrm>
            <a:off x="10001250" y="28860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配置/接线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B56A88B-2BDC-4C79-8CE5-C3D77177886A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85DED6C2-A5A8-4E5C-A2FA-0132E821A9A7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C5B603E-E64D-49B2-A15F-0A8E8B7E3CD2}"/>
              </a:ext>
            </a:extLst>
          </p:cNvPr>
          <p:cNvSpPr>
            <a:spLocks noGrp="1"/>
          </p:cNvSpPr>
          <p:nvPr/>
        </p:nvSpPr>
        <p:spPr>
          <a:xfrm>
            <a:off x="1428750" y="36290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配置镜像源与VMware Tools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FD33D856-9877-4393-BA90-A716C69E8B0D}"/>
              </a:ext>
            </a:extLst>
          </p:cNvPr>
          <p:cNvSpPr>
            <a:spLocks noGrp="1"/>
          </p:cNvSpPr>
          <p:nvPr/>
        </p:nvSpPr>
        <p:spPr>
          <a:xfrm>
            <a:off x="10001250" y="37052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编译/上传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E846BF0-6D59-4C9A-BF4D-83B22B86C7D7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3B3D1129-23F6-4E4B-8399-72D7803BBCCD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6F06730A-F38A-4C73-A22A-4FD7BB3A44F9}"/>
              </a:ext>
            </a:extLst>
          </p:cNvPr>
          <p:cNvSpPr>
            <a:spLocks noGrp="1"/>
          </p:cNvSpPr>
          <p:nvPr/>
        </p:nvSpPr>
        <p:spPr>
          <a:xfrm>
            <a:off x="1428750" y="44481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安装ROS Noetic并初始化rosdep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6771E020-BAB8-4236-8D8B-AA0565FF02DC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数据/话题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F45E954-0667-493C-8B9E-28CE35B1A8C4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0769C6E7-2407-4FAA-9D83-A0660C755AC7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7602EC96-DCC8-42F7-A8AF-493DD2394886}"/>
              </a:ext>
            </a:extLst>
          </p:cNvPr>
          <p:cNvSpPr>
            <a:spLocks noGrp="1"/>
          </p:cNvSpPr>
          <p:nvPr/>
        </p:nvSpPr>
        <p:spPr>
          <a:xfrm>
            <a:off x="1428750" y="52673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运行turtlesim与自编译程序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BE4370FF-3284-49F1-A277-8D4360EF0466}"/>
              </a:ext>
            </a:extLst>
          </p:cNvPr>
          <p:cNvSpPr>
            <a:spLocks noGrp="1"/>
          </p:cNvSpPr>
          <p:nvPr/>
        </p:nvSpPr>
        <p:spPr>
          <a:xfrm>
            <a:off x="10001250" y="53435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</p:txBody>
      </p:sp>
    </p:spTree>
    <p:extLst>
      <p:ext uri="{BB962C8B-B14F-4D97-AF65-F5344CB8AC3E}">
        <p14:creationId xmlns:p14="http://schemas.microsoft.com/office/powerpoint/2010/main" val="369495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9ED7F916-BB79-401F-8EEE-9A6C7B710830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1  /  环境搭建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6A95FE3-EE56-4F52-A875-2B769FFE029E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环境验收命令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E2686B5-65D4-437B-8451-17DA6C798AE4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先读输入与输出，再读关键参数和异常分支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B8C732-ED63-4888-A711-AF8B684992DA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858F3A6-CDA5-4CF3-B5C9-56747C4CCEC1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E47D025-F641-4249-A62E-F0FE6462415F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7429500" cy="3952875"/>
          </a:xfrm>
          <a:prstGeom prst="roundRect">
            <a:avLst>
              <a:gd name="adj" fmla="val 1446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836C36D-BF35-40A4-BB26-1041D544812F}"/>
              </a:ext>
            </a:extLst>
          </p:cNvPr>
          <p:cNvSpPr>
            <a:spLocks noGrp="1"/>
          </p:cNvSpPr>
          <p:nvPr/>
        </p:nvSpPr>
        <p:spPr>
          <a:xfrm>
            <a:off x="828675" y="2171700"/>
            <a:ext cx="69532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source /opt/ros/noetic/setup.bash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roscore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rosrun turtlesim turtlesim_node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rosrun turtlesim turtle_teleop_key</a:t>
            </a:r>
          </a:p>
          <a:p>
            <a:endParaRPr sz="1425" b="0">
              <a:solidFill>
                <a:srgbClr val="E9F4F2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# 新终端检查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rosnode list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rostopic list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657027C-74B8-4784-9BB1-27C95D775C20}"/>
              </a:ext>
            </a:extLst>
          </p:cNvPr>
          <p:cNvSpPr>
            <a:spLocks noGrp="1"/>
          </p:cNvSpPr>
          <p:nvPr/>
        </p:nvSpPr>
        <p:spPr>
          <a:xfrm>
            <a:off x="8572500" y="21431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代码走读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47AE0D0-C275-48F8-B7BA-C0AA2E587C09}"/>
              </a:ext>
            </a:extLst>
          </p:cNvPr>
          <p:cNvSpPr>
            <a:spLocks noGrp="1"/>
          </p:cNvSpPr>
          <p:nvPr/>
        </p:nvSpPr>
        <p:spPr>
          <a:xfrm>
            <a:off x="8572500" y="2714625"/>
            <a:ext cx="2476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  输入从哪里来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  数据类型是什么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  哪些参数可调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  失败时如何处理</a:t>
            </a:r>
          </a:p>
        </p:txBody>
      </p:sp>
    </p:spTree>
    <p:extLst>
      <p:ext uri="{BB962C8B-B14F-4D97-AF65-F5344CB8AC3E}">
        <p14:creationId xmlns:p14="http://schemas.microsoft.com/office/powerpoint/2010/main" val="1870060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73D69382-2DE8-42EF-81B9-CC71AB74C1F3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1  /  环境搭建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C602923-1122-4129-9EA3-5013D039F654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调试从现象出发，用证据缩小范围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B02657-E624-4A58-B6AB-8E409CB83341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B55FCFC-CA54-4EB2-BB0C-0F57C887D5EC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852F580-9337-4C05-8060-20AF27598278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4543425" cy="325755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6667" y="2095500"/>
            <a:ext cx="2969292" cy="3143250"/>
          </a:xfrm>
          <a:prstGeom prst="roundRect">
            <a:avLst>
              <a:gd name="adj" fmla="val 1212"/>
            </a:avLst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4434851A-2C8F-4267-9776-A1B56D7B8BDA}"/>
              </a:ext>
            </a:extLst>
          </p:cNvPr>
          <p:cNvSpPr>
            <a:spLocks noGrp="1"/>
          </p:cNvSpPr>
          <p:nvPr/>
        </p:nvSpPr>
        <p:spPr>
          <a:xfrm>
            <a:off x="5667375" y="20288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虚拟机卡顿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96C5710-12B6-4B4A-9442-CB1320C4315C}"/>
              </a:ext>
            </a:extLst>
          </p:cNvPr>
          <p:cNvSpPr>
            <a:spLocks noGrp="1"/>
          </p:cNvSpPr>
          <p:nvPr/>
        </p:nvSpPr>
        <p:spPr>
          <a:xfrm>
            <a:off x="7667625" y="20288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减少后台程序，检查VT-x/AMD-V与内存分配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7F3D43-8652-45F5-A5ED-C34E15871020}"/>
              </a:ext>
            </a:extLst>
          </p:cNvPr>
          <p:cNvSpPr>
            <a:spLocks noGrp="1"/>
          </p:cNvSpPr>
          <p:nvPr/>
        </p:nvSpPr>
        <p:spPr>
          <a:xfrm>
            <a:off x="5667375" y="26574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F5502D3-DDFE-42FB-9009-0BA6386DC5CA}"/>
              </a:ext>
            </a:extLst>
          </p:cNvPr>
          <p:cNvSpPr>
            <a:spLocks noGrp="1"/>
          </p:cNvSpPr>
          <p:nvPr/>
        </p:nvSpPr>
        <p:spPr>
          <a:xfrm>
            <a:off x="5667375" y="29432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无法联网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CB5024C-11F4-4BB0-891E-0538CA75CCE0}"/>
              </a:ext>
            </a:extLst>
          </p:cNvPr>
          <p:cNvSpPr>
            <a:spLocks noGrp="1"/>
          </p:cNvSpPr>
          <p:nvPr/>
        </p:nvSpPr>
        <p:spPr>
          <a:xfrm>
            <a:off x="7667625" y="29432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确认NAT、DNS与系统时间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5590BA-8CB5-41B4-A98F-CD5D4B33890E}"/>
              </a:ext>
            </a:extLst>
          </p:cNvPr>
          <p:cNvSpPr>
            <a:spLocks noGrp="1"/>
          </p:cNvSpPr>
          <p:nvPr/>
        </p:nvSpPr>
        <p:spPr>
          <a:xfrm>
            <a:off x="5667375" y="35718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C98A04E-91EE-4383-A4CB-BBB65A3F754A}"/>
              </a:ext>
            </a:extLst>
          </p:cNvPr>
          <p:cNvSpPr>
            <a:spLocks noGrp="1"/>
          </p:cNvSpPr>
          <p:nvPr/>
        </p:nvSpPr>
        <p:spPr>
          <a:xfrm>
            <a:off x="5667375" y="38576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找不到rosrun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44B7522-2A93-4E76-81C6-E4CB268DC067}"/>
              </a:ext>
            </a:extLst>
          </p:cNvPr>
          <p:cNvSpPr>
            <a:spLocks noGrp="1"/>
          </p:cNvSpPr>
          <p:nvPr/>
        </p:nvSpPr>
        <p:spPr>
          <a:xfrm>
            <a:off x="7667625" y="38576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source /opt/ros/noetic/setup.bash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804425-9573-4635-BDA8-EEF25CEF2CAD}"/>
              </a:ext>
            </a:extLst>
          </p:cNvPr>
          <p:cNvSpPr>
            <a:spLocks noGrp="1"/>
          </p:cNvSpPr>
          <p:nvPr/>
        </p:nvSpPr>
        <p:spPr>
          <a:xfrm>
            <a:off x="5667375" y="44862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E73AB5D-07BB-429B-8125-1C887EBA96CC}"/>
              </a:ext>
            </a:extLst>
          </p:cNvPr>
          <p:cNvSpPr>
            <a:spLocks noGrp="1"/>
          </p:cNvSpPr>
          <p:nvPr/>
        </p:nvSpPr>
        <p:spPr>
          <a:xfrm>
            <a:off x="5667375" y="47720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rosdep失败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22A70EB-FA7B-4EFC-AB4A-45612DF228A3}"/>
              </a:ext>
            </a:extLst>
          </p:cNvPr>
          <p:cNvSpPr>
            <a:spLocks noGrp="1"/>
          </p:cNvSpPr>
          <p:nvPr/>
        </p:nvSpPr>
        <p:spPr>
          <a:xfrm>
            <a:off x="7667625" y="47720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检查网络与软件源后重试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93D18F-2B74-465B-816D-E49D5F693295}"/>
              </a:ext>
            </a:extLst>
          </p:cNvPr>
          <p:cNvSpPr>
            <a:spLocks noGrp="1"/>
          </p:cNvSpPr>
          <p:nvPr/>
        </p:nvSpPr>
        <p:spPr>
          <a:xfrm>
            <a:off x="5667375" y="54006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079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FE506E6D-33E4-4E35-BC05-5B77BB436643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1  /  环境搭建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0A41DCB-5C97-4903-B167-5DF3309B6A8C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验收看证据，不只看“能运行”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B4AF08C-4964-433D-A52D-F61BA7C2D12F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小组展示时按四项逐一核验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CE330F-DDC4-472B-A2BE-4D224CA6215D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0BAABFA-9DDB-4DFE-ABB2-5E222EE4D25E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F888EC4-D406-4FC9-8D19-4AE14C0B48F8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FB468AC-0A8B-4137-AB81-097B608EDEF5}"/>
              </a:ext>
            </a:extLst>
          </p:cNvPr>
          <p:cNvSpPr>
            <a:spLocks noGrp="1"/>
          </p:cNvSpPr>
          <p:nvPr/>
        </p:nvSpPr>
        <p:spPr>
          <a:xfrm>
            <a:off x="9429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D310654-D847-4B2A-902A-002CC6972383}"/>
              </a:ext>
            </a:extLst>
          </p:cNvPr>
          <p:cNvSpPr>
            <a:spLocks noGrp="1"/>
          </p:cNvSpPr>
          <p:nvPr/>
        </p:nvSpPr>
        <p:spPr>
          <a:xfrm>
            <a:off x="17145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Ubuntu能正常启动并联网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2C69ACD-4C4E-48F7-BE91-3D81F60D9968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8A587C0-35C2-4894-8081-205124A763C8}"/>
              </a:ext>
            </a:extLst>
          </p:cNvPr>
          <p:cNvSpPr>
            <a:spLocks noGrp="1"/>
          </p:cNvSpPr>
          <p:nvPr/>
        </p:nvSpPr>
        <p:spPr>
          <a:xfrm>
            <a:off x="64674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A7C624A2-327D-4486-AEC6-9AD6B9813319}"/>
              </a:ext>
            </a:extLst>
          </p:cNvPr>
          <p:cNvSpPr>
            <a:spLocks noGrp="1"/>
          </p:cNvSpPr>
          <p:nvPr/>
        </p:nvSpPr>
        <p:spPr>
          <a:xfrm>
            <a:off x="72390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roscore无报错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BD62B84-BBE3-4A30-9587-0E9423BE3A76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B5A6990-5075-410A-B695-A74913206681}"/>
              </a:ext>
            </a:extLst>
          </p:cNvPr>
          <p:cNvSpPr>
            <a:spLocks noGrp="1"/>
          </p:cNvSpPr>
          <p:nvPr/>
        </p:nvSpPr>
        <p:spPr>
          <a:xfrm>
            <a:off x="9429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20C52AA-8B21-48D4-A5FC-CC4C9B4AA212}"/>
              </a:ext>
            </a:extLst>
          </p:cNvPr>
          <p:cNvSpPr>
            <a:spLocks noGrp="1"/>
          </p:cNvSpPr>
          <p:nvPr/>
        </p:nvSpPr>
        <p:spPr>
          <a:xfrm>
            <a:off x="17145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turtlesim可由键盘控制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9678526-10FE-4A9B-8FDA-1964014122E6}"/>
              </a:ext>
            </a:extLst>
          </p:cNvPr>
          <p:cNvSpPr>
            <a:spLocks noGrp="1"/>
          </p:cNvSpPr>
          <p:nvPr/>
        </p:nvSpPr>
        <p:spPr>
          <a:xfrm>
            <a:off x="62388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737913BE-1443-43B7-BF9F-6BA21A1AD2E4}"/>
              </a:ext>
            </a:extLst>
          </p:cNvPr>
          <p:cNvSpPr>
            <a:spLocks noGrp="1"/>
          </p:cNvSpPr>
          <p:nvPr/>
        </p:nvSpPr>
        <p:spPr>
          <a:xfrm>
            <a:off x="64674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28C0D00-8644-4F55-89E7-998A473CB987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自建程序可编译并运行</a:t>
            </a:r>
          </a:p>
        </p:txBody>
      </p:sp>
    </p:spTree>
    <p:extLst>
      <p:ext uri="{BB962C8B-B14F-4D97-AF65-F5344CB8AC3E}">
        <p14:creationId xmlns:p14="http://schemas.microsoft.com/office/powerpoint/2010/main" val="415238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B68E7F5C-AC3C-42BE-91BF-E07C14B9C6EA}"/>
              </a:ext>
            </a:extLst>
          </p:cNvPr>
          <p:cNvSpPr>
            <a:spLocks noGrp="1"/>
          </p:cNvSpPr>
          <p:nvPr/>
        </p:nvSpPr>
        <p:spPr>
          <a:xfrm>
            <a:off x="666750" y="61912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项目 1 复盘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DACDD69-389C-4529-B89C-76F549EB95E4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9334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环境搭建不是“装完软件”，而是建立可复现、可诊断的工程基线。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FF9F65-ABDF-4C0F-9B90-D4BB1FE3B7CC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10096500" cy="1905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14A3893-5B99-4A34-93F1-A94E2B256603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离堂问题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3277C6B-175E-485C-92AE-C0191487EE4D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9239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本项目中，哪一个参数或接口最影响系统可靠性？你用什么证据验证？</a:t>
            </a:r>
          </a:p>
        </p:txBody>
      </p:sp>
    </p:spTree>
    <p:extLst>
      <p:ext uri="{BB962C8B-B14F-4D97-AF65-F5344CB8AC3E}">
        <p14:creationId xmlns:p14="http://schemas.microsoft.com/office/powerpoint/2010/main" val="5640597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4263</TotalTime>
  <Words>598</Words>
  <Application>Microsoft Office PowerPoint</Application>
  <DocSecurity>0</DocSecurity>
  <PresentationFormat>宽屏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summer</cp:lastModifiedBy>
  <cp:revision>2</cp:revision>
  <dcterms:created xsi:type="dcterms:W3CDTF">2026-08-12T10:27:05Z</dcterms:created>
  <dcterms:modified xsi:type="dcterms:W3CDTF">2026-08-28T08:29:00Z</dcterms:modified>
</cp:coreProperties>
</file>